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good morning. Today I'm presenting the project I built for this course: an ontology of a smart home, written in OWL 2 with Protégé. The idea is to model everything that lives in a connected house — the devices, the rooms they're in, the people who use them, the events they generate — and then let a reasoner do useful work on top of that model: classify devices automatically, catch inconsistencies, and answer queries that nobody asserted explicitly. I'll walk through why I chose this domain, how I designed it, the main OWL constructs I used, and what the HermiT reasoner actually infers when you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on this slide I want to motivate the domain choice. The smart home is a genuinely good fit for ontologies, not just a toy example. The real-world problem is fragmentation: you buy a Philips light, a Xiaomi sensor, a Nest thermostat, and they all describe themselves differently. The industry has actually responded with ontologies — the W3C has SSN and SOSA for sensors, ETSI has SAREF for smart appliances — so this isn't academic fantasy, it's how the field actually attacks interoperability. My project builds a compact ontology in the same spirit. And the payoff I want to stress is that once knowledge is in the ontology, questions like "which devices are running low on battery" or "did anyone who isn't an admin get control of the front door lock" stop being application code and become reasoning tasks. That's the core idea of knowledge representation: move logic from procedures into declarative axioms.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I want to show that the ontology wasn't built ad hoc. I followed the Ontology Development 101 methodology by Noy and McGuinness, which is the standard reference for this kind of project. I started by writing competency questions — the queries the ontology must be able to answer — because they define the scope and stop you from modelling things you don't need. Then I enumerated the important terms, built the class hierarchy top-down starting from six disjoint top categories, added object and data properties with proper domains and ranges, then the restrictions and defined classes, and finally populated the ABox with thirty-five individuals. One thing I want to emphasise is the iteration loop: I ran HermiT constantly during development. The reasoner caught real mistakes — for example, at one point a functional isConnectedTo clashed with the gateway being on two networks, and I had to make a documented design decision about it, which I'll come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is the skeleton of the TBox. Six top-level categories, all mutually disjoint — a device can never be a room, an event can never be a user. Inside the Device branch, Sensor and Actuator are disjoint from each other, which models the intuition that sensing and acting are different capabilities. That disjointness immediately raises a question: what about devices that do both, like a climate station with a thermometer and a fan? I handle those with the HybridDevice class — it's a Device that has components which are sensors and actuators, so it sits beside Sensor and Actuator rather than violating their disjointness. The defined classes are where the interesting semantics live, and they get their own slide. The point to take away here is depth: this isn't a flat list, the hierarchy goes three to four levels deep and every leaf is disjoint from its siblings.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I want to show the relational structure. Eighteen object properties, organised mostly in inverse pairs so the graph can be traversed in both directions — if a device is located in a room, the room has that device. The characteristics are where OWL gets expressive. isLocatedIn is functional, meaning the reasoner will flag an error if I ever assert a device in two rooms — that's a consistency guarantee, not just documentation. It's also asymmetric, ruling out nonsense like a room being located in a sensor. communicatesWith is symmetric because device communication is mutual. hasComponent is transitive — if the climate station has a sensor module and that module has a chip, the station has the chip. And here's the design decision I mentioned earlier: I initially made isConnectedTo functional, but then my gateway individual, which bridges Wi-Fi and Zigbee, made the ontology inconsistent. That's actually correct reasoner behaviour — gateways genuinely connect to multiple networks — so the fix was to drop functionality, and I document that as a modelling lesson: the reasoner forced me to align the axioms with reality.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slide covers the attribute layer. Fifteen data properties, each with the correct XSD datatype — booleans for online status, floats for physical readings, dateTime for timestamps, integers for battery percentage and age. Two things I want to highlight. First, domains are as tight as they can sensibly be: a humidity reading can only attach to a humidity sensor, an SSID only to a Wi-Fi network. That keeps the data clean — Protégé will literally not offer the wrong property on the wrong individual. Second, and more interesting, these datatypes aren't passive labels. OWL 2 lets you build class expressions over datatypes with facet restrictions, and I use that twice: ChildUser is defined as a user whose age is below eighteen, and LowBatteryDevice as a device whose battery is at most twenty percent. So an integer value asserted in the ABox actually drives classification in the TBox — that's an OWL 2 feature specifically, it didn't exist in OWL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heart of the TBox, so I want to take a moment on each example. The first one, SmartDevice, is the classic defined class: equivalence rather than subclass, which means the reasoner classifies into it — any device with an asserted network connection becomes a SmartDevice automatically, I never assert that type by hand. The second, HybridDevice, is an intersection of two existential restrictions — it captures composite devices and resolves the Sensor–Actuator disjointness elegantly. The third uses complement: NonAdminUser is literally every user that is not an admin, and from that single axiom the reasoner derives that both GuestUser and ChildUser are subclasses of NonAdminUser — I never stated those subsumptions. The fourth is the OWL 2 datatype restriction I mentioned: a facet on xsd:integer. And not on the slide in full, but I also have two union classes — EnvironmentalSensor as the union of the four ambient sensor types, and SafetyDevice as a union that deliberately crosses the Sensor–Actuator divide, grouping smoke sensors with smart locks because what unites them is purpose, not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on this slide I want to show how the ontology is populated. Thirty-five individuals forming one coherent scenario: a real apartment with six rooms, two networks, a family of three users plus a guest, and a full set of devices with realistic values — battery levels, IP addresses, sensor readings, installation dates. The thing I want you to notice is the bottom line. Some individuals are deliberately under-specified. Marco is asserted just as a User with age nine — not as a ChildUser. The climate station is asserted just as a Device — not as a HybridDevice. The smoke event is asserted just as an Event. That's intentional: it sets up the demonstration on the next slide, where the reasoner derives all those missing types from the definitions. If I had asserted everything by hand, the defined classes would be decorative. This way they're doing real inferential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is where everything pays off. I run HermiT and three kinds of things happen. First, the sanity check: the ontology is consistent and every class is satisfiable — given eight groups of disjointness axioms plus functional and asymmetric properties, that's a non-trivial guarantee. Second, the inferred class hierarchy: subsumptions I never wrote appear, like GuestUser under NonAdminUser — that follows purely from the complement definition — and LowBatteryDevice under BatteryPoweredDevice, which follows because having a battery level of at most twenty entails having a battery level at all. Third, individual classification: all fifteen connected devices drop into SmartDevice; the hallway motion sensor at fifteen percent battery becomes a LowBatteryDevice; Marco, age nine, becomes a ChildUser and therefore also a NonAdminUser; and the climate station becomes a HybridDevice from its components alone. I want to underline the point: none of these facts is in the file. They are all consequences. That's the difference between an ontology and a database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I want to show the SWRL layer, which goes beyond what pure OWL class expressions can do. The key limitation of OWL is that class restrictions can't relate three things at once — you can't say "the event's location is the location of the sensor that triggered it" with restrictions alone, because that requires joining variables across properties. Rule R1 does exactly that join: motion sensor in a room triggers a security event, therefore the event occurred in that room. In my ABox, that's how the system learns that the hallway motion event occurred in the hallway. R2 is a reclassification rule: anything a smoke sensor triggers is a security event — and indeed my smoke event, asserted as a plain Event, comes out as a SecurityEvent. R3 is the one I find most interesting conceptually: it encodes a security policy. If a smart lock is controlled by someone, that someone must be an admin. In my data the front door lock is controlled only by Alice, who is an admin, so everything is consistent — but if I added a controlledBy assertion to the guest, the rule would force Bob into AdminUser, which clashes with the disjointness between user types, and HermiT would report an inconsistency. So the rule acts as a declarative access-control check. All three rules are DL-safe, no built-ins, and they fire directly in HermiT inside Protégé.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on this slide I close the loop with the methodology. These are the competency questions I wrote at the start, and now I show they're actually answerable — each one is a DL query you can paste into Protégé's DL Query tab after running the reasoner. The thing I want to point out is that every single answer depends on inference. CQ1's answer set is entirely inferred — SmartDevice has no asserted members. CQ2 depends on the datatype restriction over battery level. CQ4 depends on a SWRL rule, because no occursIn assertion exists in the file. CQ5 depends on the complement-based definition and on Marco being classified as a child from his age. So the evaluation isn't "the ontology contains the data" — it's "the ontology derives the answers". That's the standard evaluation method from Ontology Development 101, and I think it's the strongest evidence the design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conclude. The project delivers a complete, consistent OWL 2 ontology of a smart home that exercises essentially the whole expressive toolbox we covered in the course — and, more importantly, uses each construct for a reason, not as decoration. The defined classes classify, the disjointness axioms catch errors, the rules encode policy. For future work, the honest next step would be alignment with the real standards, SSN/SOSA and SAREF, so the ontology could exchange data with actual commercial systems. Temporal reasoning is the second gap — right now events have timestamps but no interval semantics, so I can't say "motion followed by door opening within five minutes", which is what real security logic needs. And finally, connecting the ABox to live data through a SPARQL endpoint would turn this from a model into a running system. Thank you — happy to take questions on any of the axioms.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these are the references — the foundational ontology papers, the W3C specifications for OWL 2 and SWRL, the tools I used, and the two real-world smart home ontology standards that frame the future-work direction. Thanks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5A63"/>
        </a:solidFill>
      </p:bgPr>
    </p:bg>
    <p:spTree>
      <p:nvGrpSpPr>
        <p:cNvPr id="1" name=""/>
        <p:cNvGrpSpPr/>
        <p:nvPr/>
      </p:nvGrpSpPr>
      <p:grpSpPr>
        <a:xfrm>
          <a:off x="0" y="0"/>
          <a:ext cx="0" cy="0"/>
          <a:chOff x="0" y="0"/>
          <a:chExt cx="0" cy="0"/>
        </a:xfrm>
      </p:grpSpPr>
      <p:sp>
        <p:nvSpPr>
          <p:cNvPr id="2" name="Shape 0"/>
          <p:cNvSpPr/>
          <p:nvPr/>
        </p:nvSpPr>
        <p:spPr>
          <a:xfrm>
            <a:off x="4069080" y="502920"/>
            <a:ext cx="1005840" cy="1005840"/>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4315968" y="749808"/>
            <a:ext cx="512064" cy="512064"/>
          </a:xfrm>
          <a:prstGeom prst="rect">
            <a:avLst/>
          </a:prstGeom>
        </p:spPr>
      </p:pic>
      <p:sp>
        <p:nvSpPr>
          <p:cNvPr id="4" name="Text 1"/>
          <p:cNvSpPr/>
          <p:nvPr/>
        </p:nvSpPr>
        <p:spPr>
          <a:xfrm>
            <a:off x="548640" y="1691640"/>
            <a:ext cx="8046720" cy="822960"/>
          </a:xfrm>
          <a:prstGeom prst="rect">
            <a:avLst/>
          </a:prstGeom>
          <a:noFill/>
          <a:ln/>
        </p:spPr>
        <p:txBody>
          <a:bodyPr wrap="square" rtlCol="0" anchor="ctr"/>
          <a:lstStyle/>
          <a:p>
            <a:pPr algn="ctr" indent="0" marL="0">
              <a:buNone/>
            </a:pPr>
            <a:r>
              <a:rPr lang="en-US" sz="3800" b="1" dirty="0">
                <a:solidFill>
                  <a:srgbClr val="FFFFFF"/>
                </a:solidFill>
                <a:latin typeface="Arial" pitchFamily="34" charset="0"/>
                <a:ea typeface="Arial" pitchFamily="34" charset="-122"/>
                <a:cs typeface="Arial" pitchFamily="34" charset="-120"/>
              </a:rPr>
              <a:t>A Smart Home Ontology in OWL 2</a:t>
            </a:r>
            <a:endParaRPr lang="en-US" sz="3800" dirty="0"/>
          </a:p>
        </p:txBody>
      </p:sp>
      <p:sp>
        <p:nvSpPr>
          <p:cNvPr id="5" name="Text 2"/>
          <p:cNvSpPr/>
          <p:nvPr/>
        </p:nvSpPr>
        <p:spPr>
          <a:xfrm>
            <a:off x="1097280" y="2514600"/>
            <a:ext cx="6949440" cy="502920"/>
          </a:xfrm>
          <a:prstGeom prst="rect">
            <a:avLst/>
          </a:prstGeom>
          <a:noFill/>
          <a:ln/>
        </p:spPr>
        <p:txBody>
          <a:bodyPr wrap="square" rtlCol="0" anchor="ctr"/>
          <a:lstStyle/>
          <a:p>
            <a:pPr algn="ctr" indent="0" marL="0">
              <a:buNone/>
            </a:pPr>
            <a:r>
              <a:rPr lang="en-US" sz="1600" i="1" dirty="0">
                <a:solidFill>
                  <a:srgbClr val="BDE8E3"/>
                </a:solidFill>
              </a:rPr>
              <a:t>Modelling devices, users, rooms and automation in a residential IoT environment</a:t>
            </a:r>
            <a:endParaRPr lang="en-US" sz="1600" dirty="0"/>
          </a:p>
        </p:txBody>
      </p:sp>
      <p:sp>
        <p:nvSpPr>
          <p:cNvPr id="6" name="Text 3"/>
          <p:cNvSpPr/>
          <p:nvPr/>
        </p:nvSpPr>
        <p:spPr>
          <a:xfrm>
            <a:off x="1371600" y="3520440"/>
            <a:ext cx="6400800" cy="1005840"/>
          </a:xfrm>
          <a:prstGeom prst="rect">
            <a:avLst/>
          </a:prstGeom>
          <a:noFill/>
          <a:ln/>
        </p:spPr>
        <p:txBody>
          <a:bodyPr wrap="square" rtlCol="0" anchor="ctr"/>
          <a:lstStyle/>
          <a:p>
            <a:pPr algn="ctr" indent="0" marL="0">
              <a:lnSpc>
                <a:spcPct val="130000"/>
              </a:lnSpc>
              <a:buNone/>
            </a:pPr>
            <a:r>
              <a:rPr lang="en-US" sz="1400" b="1" dirty="0">
                <a:solidFill>
                  <a:srgbClr val="FFFFFF"/>
                </a:solidFill>
              </a:rPr>
              <a:t>Raul — VR544459</a:t>
            </a:r>
            <a:endParaRPr lang="en-US" sz="1400" dirty="0"/>
          </a:p>
          <a:p>
            <a:pPr algn="ctr" indent="0" marL="0">
              <a:lnSpc>
                <a:spcPct val="130000"/>
              </a:lnSpc>
              <a:buNone/>
            </a:pPr>
            <a:r>
              <a:rPr lang="en-US" sz="1400" dirty="0">
                <a:solidFill>
                  <a:srgbClr val="FFFFFF"/>
                </a:solidFill>
              </a:rPr>
              <a:t>Knowledge Representation · MSc Data Science · University of Verona</a:t>
            </a:r>
            <a:endParaRPr lang="en-US" sz="1400" dirty="0"/>
          </a:p>
          <a:p>
            <a:pPr algn="ctr" indent="0" marL="0">
              <a:lnSpc>
                <a:spcPct val="130000"/>
              </a:lnSpc>
              <a:buNone/>
            </a:pPr>
            <a:r>
              <a:rPr lang="en-US" sz="1400" dirty="0">
                <a:solidFill>
                  <a:srgbClr val="FFFFFF"/>
                </a:solidFill>
              </a:rPr>
              <a:t>Prof. Matteo Cristani — June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E293B"/>
                </a:solidFill>
                <a:latin typeface="Arial" pitchFamily="34" charset="0"/>
                <a:ea typeface="Arial" pitchFamily="34" charset="-122"/>
                <a:cs typeface="Arial" pitchFamily="34" charset="-120"/>
              </a:rPr>
              <a:t>Motivation &amp; Use Case</a:t>
            </a:r>
            <a:endParaRPr lang="en-US" sz="3000" dirty="0"/>
          </a:p>
        </p:txBody>
      </p:sp>
      <p:sp>
        <p:nvSpPr>
          <p:cNvPr id="3" name="Shape 1"/>
          <p:cNvSpPr/>
          <p:nvPr/>
        </p:nvSpPr>
        <p:spPr>
          <a:xfrm>
            <a:off x="548640" y="1143000"/>
            <a:ext cx="548640" cy="548640"/>
          </a:xfrm>
          <a:prstGeom prst="ellipse">
            <a:avLst/>
          </a:prstGeom>
          <a:solidFill>
            <a:srgbClr val="EAF5F6"/>
          </a:solidFill>
          <a:ln/>
        </p:spPr>
      </p:sp>
      <p:pic>
        <p:nvPicPr>
          <p:cNvPr id="4" name="Image 0" descr="preencoded.png">    </p:cNvPr>
          <p:cNvPicPr>
            <a:picLocks noChangeAspect="1"/>
          </p:cNvPicPr>
          <p:nvPr/>
        </p:nvPicPr>
        <p:blipFill>
          <a:blip r:embed="rId1"/>
          <a:stretch>
            <a:fillRect/>
          </a:stretch>
        </p:blipFill>
        <p:spPr>
          <a:xfrm>
            <a:off x="669341" y="1263701"/>
            <a:ext cx="307238" cy="307238"/>
          </a:xfrm>
          <a:prstGeom prst="rect">
            <a:avLst/>
          </a:prstGeom>
        </p:spPr>
      </p:pic>
      <p:sp>
        <p:nvSpPr>
          <p:cNvPr id="5" name="Text 2"/>
          <p:cNvSpPr/>
          <p:nvPr/>
        </p:nvSpPr>
        <p:spPr>
          <a:xfrm>
            <a:off x="1325880" y="1097280"/>
            <a:ext cx="7315200" cy="365760"/>
          </a:xfrm>
          <a:prstGeom prst="rect">
            <a:avLst/>
          </a:prstGeom>
          <a:noFill/>
          <a:ln/>
        </p:spPr>
        <p:txBody>
          <a:bodyPr wrap="square" lIns="0" tIns="0" rIns="0" bIns="0" rtlCol="0" anchor="ctr"/>
          <a:lstStyle/>
          <a:p>
            <a:pPr indent="0" marL="0">
              <a:buNone/>
            </a:pPr>
            <a:r>
              <a:rPr lang="en-US" sz="1800" b="1" dirty="0">
                <a:solidFill>
                  <a:srgbClr val="1E293B"/>
                </a:solidFill>
              </a:rPr>
              <a:t>Fragmented ecosystem</a:t>
            </a:r>
            <a:endParaRPr lang="en-US" sz="1800" dirty="0"/>
          </a:p>
        </p:txBody>
      </p:sp>
      <p:sp>
        <p:nvSpPr>
          <p:cNvPr id="6" name="Text 3"/>
          <p:cNvSpPr/>
          <p:nvPr/>
        </p:nvSpPr>
        <p:spPr>
          <a:xfrm>
            <a:off x="1325880" y="1463040"/>
            <a:ext cx="7223760" cy="731520"/>
          </a:xfrm>
          <a:prstGeom prst="rect">
            <a:avLst/>
          </a:prstGeom>
          <a:noFill/>
          <a:ln/>
        </p:spPr>
        <p:txBody>
          <a:bodyPr wrap="square" lIns="0" tIns="0" rIns="0" bIns="0" rtlCol="0" anchor="ctr"/>
          <a:lstStyle/>
          <a:p>
            <a:pPr indent="0" marL="0">
              <a:buNone/>
            </a:pPr>
            <a:r>
              <a:rPr lang="en-US" sz="1400" dirty="0">
                <a:solidFill>
                  <a:srgbClr val="5B6B7C"/>
                </a:solidFill>
              </a:rPr>
              <a:t>Many vendors, many protocols, no shared vocabulary — a thermostat and a motion sensor can't “talk” without shared semantics.</a:t>
            </a:r>
            <a:endParaRPr lang="en-US" sz="1400" dirty="0"/>
          </a:p>
        </p:txBody>
      </p:sp>
      <p:sp>
        <p:nvSpPr>
          <p:cNvPr id="7" name="Shape 4"/>
          <p:cNvSpPr/>
          <p:nvPr/>
        </p:nvSpPr>
        <p:spPr>
          <a:xfrm>
            <a:off x="548640" y="2377440"/>
            <a:ext cx="548640" cy="548640"/>
          </a:xfrm>
          <a:prstGeom prst="ellipse">
            <a:avLst/>
          </a:prstGeom>
          <a:solidFill>
            <a:srgbClr val="EAF5F6"/>
          </a:solidFill>
          <a:ln/>
        </p:spPr>
      </p:sp>
      <p:pic>
        <p:nvPicPr>
          <p:cNvPr id="8" name="Image 1" descr="preencoded.png">    </p:cNvPr>
          <p:cNvPicPr>
            <a:picLocks noChangeAspect="1"/>
          </p:cNvPicPr>
          <p:nvPr/>
        </p:nvPicPr>
        <p:blipFill>
          <a:blip r:embed="rId2"/>
          <a:stretch>
            <a:fillRect/>
          </a:stretch>
        </p:blipFill>
        <p:spPr>
          <a:xfrm>
            <a:off x="669341" y="2498141"/>
            <a:ext cx="307238" cy="307238"/>
          </a:xfrm>
          <a:prstGeom prst="rect">
            <a:avLst/>
          </a:prstGeom>
        </p:spPr>
      </p:pic>
      <p:sp>
        <p:nvSpPr>
          <p:cNvPr id="9" name="Text 5"/>
          <p:cNvSpPr/>
          <p:nvPr/>
        </p:nvSpPr>
        <p:spPr>
          <a:xfrm>
            <a:off x="1325880" y="2331720"/>
            <a:ext cx="7315200" cy="365760"/>
          </a:xfrm>
          <a:prstGeom prst="rect">
            <a:avLst/>
          </a:prstGeom>
          <a:noFill/>
          <a:ln/>
        </p:spPr>
        <p:txBody>
          <a:bodyPr wrap="square" lIns="0" tIns="0" rIns="0" bIns="0" rtlCol="0" anchor="ctr"/>
          <a:lstStyle/>
          <a:p>
            <a:pPr indent="0" marL="0">
              <a:buNone/>
            </a:pPr>
            <a:r>
              <a:rPr lang="en-US" sz="1800" b="1" dirty="0">
                <a:solidFill>
                  <a:srgbClr val="1E293B"/>
                </a:solidFill>
              </a:rPr>
              <a:t>Ontologies are the industry answer</a:t>
            </a:r>
            <a:endParaRPr lang="en-US" sz="1800" dirty="0"/>
          </a:p>
        </p:txBody>
      </p:sp>
      <p:sp>
        <p:nvSpPr>
          <p:cNvPr id="10" name="Text 6"/>
          <p:cNvSpPr/>
          <p:nvPr/>
        </p:nvSpPr>
        <p:spPr>
          <a:xfrm>
            <a:off x="1325880" y="2697480"/>
            <a:ext cx="7223760" cy="731520"/>
          </a:xfrm>
          <a:prstGeom prst="rect">
            <a:avLst/>
          </a:prstGeom>
          <a:noFill/>
          <a:ln/>
        </p:spPr>
        <p:txBody>
          <a:bodyPr wrap="square" lIns="0" tIns="0" rIns="0" bIns="0" rtlCol="0" anchor="ctr"/>
          <a:lstStyle/>
          <a:p>
            <a:pPr indent="0" marL="0">
              <a:buNone/>
            </a:pPr>
            <a:r>
              <a:rPr lang="en-US" sz="1400" dirty="0">
                <a:solidFill>
                  <a:srgbClr val="5B6B7C"/>
                </a:solidFill>
              </a:rPr>
              <a:t>W3C SSN/SOSA and ETSI SAREF attack exactly this problem. This project is a compact, self-contained take on the same idea.</a:t>
            </a:r>
            <a:endParaRPr lang="en-US" sz="1400" dirty="0"/>
          </a:p>
        </p:txBody>
      </p:sp>
      <p:sp>
        <p:nvSpPr>
          <p:cNvPr id="11" name="Shape 7"/>
          <p:cNvSpPr/>
          <p:nvPr/>
        </p:nvSpPr>
        <p:spPr>
          <a:xfrm>
            <a:off x="548640" y="3611880"/>
            <a:ext cx="548640" cy="548640"/>
          </a:xfrm>
          <a:prstGeom prst="ellipse">
            <a:avLst/>
          </a:prstGeom>
          <a:solidFill>
            <a:srgbClr val="EAF5F6"/>
          </a:solidFill>
          <a:ln/>
        </p:spPr>
      </p:sp>
      <p:pic>
        <p:nvPicPr>
          <p:cNvPr id="12" name="Image 2" descr="preencoded.png">    </p:cNvPr>
          <p:cNvPicPr>
            <a:picLocks noChangeAspect="1"/>
          </p:cNvPicPr>
          <p:nvPr/>
        </p:nvPicPr>
        <p:blipFill>
          <a:blip r:embed="rId3"/>
          <a:stretch>
            <a:fillRect/>
          </a:stretch>
        </p:blipFill>
        <p:spPr>
          <a:xfrm>
            <a:off x="669341" y="3732581"/>
            <a:ext cx="307238" cy="307238"/>
          </a:xfrm>
          <a:prstGeom prst="rect">
            <a:avLst/>
          </a:prstGeom>
        </p:spPr>
      </p:pic>
      <p:sp>
        <p:nvSpPr>
          <p:cNvPr id="13" name="Text 8"/>
          <p:cNvSpPr/>
          <p:nvPr/>
        </p:nvSpPr>
        <p:spPr>
          <a:xfrm>
            <a:off x="1325880" y="3566160"/>
            <a:ext cx="7315200" cy="365760"/>
          </a:xfrm>
          <a:prstGeom prst="rect">
            <a:avLst/>
          </a:prstGeom>
          <a:noFill/>
          <a:ln/>
        </p:spPr>
        <p:txBody>
          <a:bodyPr wrap="square" lIns="0" tIns="0" rIns="0" bIns="0" rtlCol="0" anchor="ctr"/>
          <a:lstStyle/>
          <a:p>
            <a:pPr indent="0" marL="0">
              <a:buNone/>
            </a:pPr>
            <a:r>
              <a:rPr lang="en-US" sz="1800" b="1" dirty="0">
                <a:solidFill>
                  <a:srgbClr val="1E293B"/>
                </a:solidFill>
              </a:rPr>
              <a:t>Reasoning replaces application code</a:t>
            </a:r>
            <a:endParaRPr lang="en-US" sz="1800" dirty="0"/>
          </a:p>
        </p:txBody>
      </p:sp>
      <p:sp>
        <p:nvSpPr>
          <p:cNvPr id="14" name="Text 9"/>
          <p:cNvSpPr/>
          <p:nvPr/>
        </p:nvSpPr>
        <p:spPr>
          <a:xfrm>
            <a:off x="1325880" y="3931920"/>
            <a:ext cx="7223760" cy="731520"/>
          </a:xfrm>
          <a:prstGeom prst="rect">
            <a:avLst/>
          </a:prstGeom>
          <a:noFill/>
          <a:ln/>
        </p:spPr>
        <p:txBody>
          <a:bodyPr wrap="square" lIns="0" tIns="0" rIns="0" bIns="0" rtlCol="0" anchor="ctr"/>
          <a:lstStyle/>
          <a:p>
            <a:pPr indent="0" marL="0">
              <a:buNone/>
            </a:pPr>
            <a:r>
              <a:rPr lang="en-US" sz="1400" dirty="0">
                <a:solidFill>
                  <a:srgbClr val="5B6B7C"/>
                </a:solidFill>
              </a:rPr>
              <a:t>“Which devices need a battery change?”, “is the lock controlled only by admins?” — answered by inference, not by code.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E293B"/>
                </a:solidFill>
                <a:latin typeface="Arial" pitchFamily="34" charset="0"/>
                <a:ea typeface="Arial" pitchFamily="34" charset="-122"/>
                <a:cs typeface="Arial" pitchFamily="34" charset="-120"/>
              </a:rPr>
              <a:t>Design Methodology</a:t>
            </a:r>
            <a:endParaRPr lang="en-US" sz="3000" dirty="0"/>
          </a:p>
        </p:txBody>
      </p:sp>
      <p:sp>
        <p:nvSpPr>
          <p:cNvPr id="3" name="Text 1"/>
          <p:cNvSpPr/>
          <p:nvPr/>
        </p:nvSpPr>
        <p:spPr>
          <a:xfrm>
            <a:off x="548640" y="1005840"/>
            <a:ext cx="8046720" cy="365760"/>
          </a:xfrm>
          <a:prstGeom prst="rect">
            <a:avLst/>
          </a:prstGeom>
          <a:noFill/>
          <a:ln/>
        </p:spPr>
        <p:txBody>
          <a:bodyPr wrap="square" lIns="0" tIns="0" rIns="0" bIns="0" rtlCol="0" anchor="ctr"/>
          <a:lstStyle/>
          <a:p>
            <a:pPr indent="0" marL="0">
              <a:buNone/>
            </a:pPr>
            <a:r>
              <a:rPr lang="en-US" sz="1500" b="1" dirty="0">
                <a:solidFill>
                  <a:srgbClr val="5B6B7C"/>
                </a:solidFill>
              </a:rPr>
              <a:t>Ontology Development 101</a:t>
            </a:r>
            <a:pPr indent="0" marL="0">
              <a:buNone/>
            </a:pPr>
            <a:r>
              <a:rPr lang="en-US" sz="1500" dirty="0">
                <a:solidFill>
                  <a:srgbClr val="5B6B7C"/>
                </a:solidFill>
              </a:rPr>
              <a:t> (Noy &amp; McGuinness) — built in </a:t>
            </a:r>
            <a:pPr indent="0" marL="0">
              <a:buNone/>
            </a:pPr>
            <a:r>
              <a:rPr lang="en-US" sz="1500" b="1" dirty="0">
                <a:solidFill>
                  <a:srgbClr val="5B6B7C"/>
                </a:solidFill>
              </a:rPr>
              <a:t>Protégé 5.6</a:t>
            </a:r>
            <a:pPr indent="0" marL="0">
              <a:buNone/>
            </a:pPr>
            <a:r>
              <a:rPr lang="en-US" sz="1500" dirty="0">
                <a:solidFill>
                  <a:srgbClr val="5B6B7C"/>
                </a:solidFill>
              </a:rPr>
              <a:t>, validated with </a:t>
            </a:r>
            <a:pPr indent="0" marL="0">
              <a:buNone/>
            </a:pPr>
            <a:r>
              <a:rPr lang="en-US" sz="1500" b="1" dirty="0">
                <a:solidFill>
                  <a:srgbClr val="5B6B7C"/>
                </a:solidFill>
              </a:rPr>
              <a:t>HermiT</a:t>
            </a:r>
            <a:pPr indent="0" marL="0">
              <a:buNone/>
            </a:pPr>
            <a:r>
              <a:rPr lang="en-US" sz="1500" dirty="0">
                <a:solidFill>
                  <a:srgbClr val="5B6B7C"/>
                </a:solidFill>
              </a:rPr>
              <a:t>, serialised as RDF/XML.</a:t>
            </a:r>
            <a:endParaRPr lang="en-US" sz="1500" dirty="0"/>
          </a:p>
        </p:txBody>
      </p:sp>
      <p:sp>
        <p:nvSpPr>
          <p:cNvPr id="4" name="Shape 2"/>
          <p:cNvSpPr/>
          <p:nvPr/>
        </p:nvSpPr>
        <p:spPr>
          <a:xfrm>
            <a:off x="502920" y="1600200"/>
            <a:ext cx="1115568" cy="1051560"/>
          </a:xfrm>
          <a:prstGeom prst="roundRect">
            <a:avLst>
              <a:gd name="adj" fmla="val 5217"/>
            </a:avLst>
          </a:prstGeom>
          <a:solidFill>
            <a:srgbClr val="EAF5F6"/>
          </a:solidFill>
          <a:ln/>
          <a:effectLst>
            <a:outerShdw sx="100000" sy="100000" kx="0" ky="0" algn="bl" rotWithShape="0" blurRad="76200" dist="25400" dir="2700000">
              <a:srgbClr val="000000">
                <a:alpha val="12000"/>
              </a:srgbClr>
            </a:outerShdw>
          </a:effectLst>
        </p:spPr>
      </p:sp>
      <p:sp>
        <p:nvSpPr>
          <p:cNvPr id="5" name="Text 3"/>
          <p:cNvSpPr/>
          <p:nvPr/>
        </p:nvSpPr>
        <p:spPr>
          <a:xfrm>
            <a:off x="502920" y="1673352"/>
            <a:ext cx="1115568" cy="365760"/>
          </a:xfrm>
          <a:prstGeom prst="rect">
            <a:avLst/>
          </a:prstGeom>
          <a:noFill/>
          <a:ln/>
        </p:spPr>
        <p:txBody>
          <a:bodyPr wrap="square" lIns="0" tIns="0" rIns="0" bIns="0" rtlCol="0" anchor="ctr"/>
          <a:lstStyle/>
          <a:p>
            <a:pPr algn="ctr" indent="0" marL="0">
              <a:buNone/>
            </a:pPr>
            <a:r>
              <a:rPr lang="en-US" sz="2200" b="1" dirty="0">
                <a:solidFill>
                  <a:srgbClr val="028090"/>
                </a:solidFill>
              </a:rPr>
              <a:t>1</a:t>
            </a:r>
            <a:endParaRPr lang="en-US" sz="2200" dirty="0"/>
          </a:p>
        </p:txBody>
      </p:sp>
      <p:sp>
        <p:nvSpPr>
          <p:cNvPr id="6" name="Text 4"/>
          <p:cNvSpPr/>
          <p:nvPr/>
        </p:nvSpPr>
        <p:spPr>
          <a:xfrm>
            <a:off x="539496" y="2011680"/>
            <a:ext cx="1042416" cy="594360"/>
          </a:xfrm>
          <a:prstGeom prst="rect">
            <a:avLst/>
          </a:prstGeom>
          <a:noFill/>
          <a:ln/>
        </p:spPr>
        <p:txBody>
          <a:bodyPr wrap="square" lIns="0" tIns="0" rIns="0" bIns="0" rtlCol="0" anchor="ctr"/>
          <a:lstStyle/>
          <a:p>
            <a:pPr algn="ctr" indent="0" marL="0">
              <a:buNone/>
            </a:pPr>
            <a:r>
              <a:rPr lang="en-US" sz="1050" dirty="0">
                <a:solidFill>
                  <a:srgbClr val="1E293B"/>
                </a:solidFill>
              </a:rPr>
              <a:t>Competency questions</a:t>
            </a:r>
            <a:endParaRPr lang="en-US" sz="1050" dirty="0"/>
          </a:p>
        </p:txBody>
      </p:sp>
      <p:sp>
        <p:nvSpPr>
          <p:cNvPr id="7" name="Shape 5"/>
          <p:cNvSpPr/>
          <p:nvPr/>
        </p:nvSpPr>
        <p:spPr>
          <a:xfrm>
            <a:off x="1673352" y="1600200"/>
            <a:ext cx="1115568" cy="1051560"/>
          </a:xfrm>
          <a:prstGeom prst="roundRect">
            <a:avLst>
              <a:gd name="adj" fmla="val 5217"/>
            </a:avLst>
          </a:prstGeom>
          <a:solidFill>
            <a:srgbClr val="EAF5F6"/>
          </a:solidFill>
          <a:ln/>
          <a:effectLst>
            <a:outerShdw sx="100000" sy="100000" kx="0" ky="0" algn="bl" rotWithShape="0" blurRad="76200" dist="25400" dir="2700000">
              <a:srgbClr val="000000">
                <a:alpha val="12000"/>
              </a:srgbClr>
            </a:outerShdw>
          </a:effectLst>
        </p:spPr>
      </p:sp>
      <p:sp>
        <p:nvSpPr>
          <p:cNvPr id="8" name="Text 6"/>
          <p:cNvSpPr/>
          <p:nvPr/>
        </p:nvSpPr>
        <p:spPr>
          <a:xfrm>
            <a:off x="1673352" y="1673352"/>
            <a:ext cx="1115568" cy="365760"/>
          </a:xfrm>
          <a:prstGeom prst="rect">
            <a:avLst/>
          </a:prstGeom>
          <a:noFill/>
          <a:ln/>
        </p:spPr>
        <p:txBody>
          <a:bodyPr wrap="square" lIns="0" tIns="0" rIns="0" bIns="0" rtlCol="0" anchor="ctr"/>
          <a:lstStyle/>
          <a:p>
            <a:pPr algn="ctr" indent="0" marL="0">
              <a:buNone/>
            </a:pPr>
            <a:r>
              <a:rPr lang="en-US" sz="2200" b="1" dirty="0">
                <a:solidFill>
                  <a:srgbClr val="028090"/>
                </a:solidFill>
              </a:rPr>
              <a:t>2</a:t>
            </a:r>
            <a:endParaRPr lang="en-US" sz="2200" dirty="0"/>
          </a:p>
        </p:txBody>
      </p:sp>
      <p:sp>
        <p:nvSpPr>
          <p:cNvPr id="9" name="Text 7"/>
          <p:cNvSpPr/>
          <p:nvPr/>
        </p:nvSpPr>
        <p:spPr>
          <a:xfrm>
            <a:off x="1709928" y="2011680"/>
            <a:ext cx="1042416" cy="594360"/>
          </a:xfrm>
          <a:prstGeom prst="rect">
            <a:avLst/>
          </a:prstGeom>
          <a:noFill/>
          <a:ln/>
        </p:spPr>
        <p:txBody>
          <a:bodyPr wrap="square" lIns="0" tIns="0" rIns="0" bIns="0" rtlCol="0" anchor="ctr"/>
          <a:lstStyle/>
          <a:p>
            <a:pPr algn="ctr" indent="0" marL="0">
              <a:buNone/>
            </a:pPr>
            <a:r>
              <a:rPr lang="en-US" sz="1050" dirty="0">
                <a:solidFill>
                  <a:srgbClr val="1E293B"/>
                </a:solidFill>
              </a:rPr>
              <a:t>Term enumeration</a:t>
            </a:r>
            <a:endParaRPr lang="en-US" sz="1050" dirty="0"/>
          </a:p>
        </p:txBody>
      </p:sp>
      <p:sp>
        <p:nvSpPr>
          <p:cNvPr id="10" name="Shape 8"/>
          <p:cNvSpPr/>
          <p:nvPr/>
        </p:nvSpPr>
        <p:spPr>
          <a:xfrm>
            <a:off x="2843784" y="1600200"/>
            <a:ext cx="1115568" cy="1051560"/>
          </a:xfrm>
          <a:prstGeom prst="roundRect">
            <a:avLst>
              <a:gd name="adj" fmla="val 5217"/>
            </a:avLst>
          </a:prstGeom>
          <a:solidFill>
            <a:srgbClr val="EAF5F6"/>
          </a:solidFill>
          <a:ln/>
          <a:effectLst>
            <a:outerShdw sx="100000" sy="100000" kx="0" ky="0" algn="bl" rotWithShape="0" blurRad="76200" dist="25400" dir="2700000">
              <a:srgbClr val="000000">
                <a:alpha val="12000"/>
              </a:srgbClr>
            </a:outerShdw>
          </a:effectLst>
        </p:spPr>
      </p:sp>
      <p:sp>
        <p:nvSpPr>
          <p:cNvPr id="11" name="Text 9"/>
          <p:cNvSpPr/>
          <p:nvPr/>
        </p:nvSpPr>
        <p:spPr>
          <a:xfrm>
            <a:off x="2843784" y="1673352"/>
            <a:ext cx="1115568" cy="365760"/>
          </a:xfrm>
          <a:prstGeom prst="rect">
            <a:avLst/>
          </a:prstGeom>
          <a:noFill/>
          <a:ln/>
        </p:spPr>
        <p:txBody>
          <a:bodyPr wrap="square" lIns="0" tIns="0" rIns="0" bIns="0" rtlCol="0" anchor="ctr"/>
          <a:lstStyle/>
          <a:p>
            <a:pPr algn="ctr" indent="0" marL="0">
              <a:buNone/>
            </a:pPr>
            <a:r>
              <a:rPr lang="en-US" sz="2200" b="1" dirty="0">
                <a:solidFill>
                  <a:srgbClr val="028090"/>
                </a:solidFill>
              </a:rPr>
              <a:t>3</a:t>
            </a:r>
            <a:endParaRPr lang="en-US" sz="2200" dirty="0"/>
          </a:p>
        </p:txBody>
      </p:sp>
      <p:sp>
        <p:nvSpPr>
          <p:cNvPr id="12" name="Text 10"/>
          <p:cNvSpPr/>
          <p:nvPr/>
        </p:nvSpPr>
        <p:spPr>
          <a:xfrm>
            <a:off x="2880360" y="2011680"/>
            <a:ext cx="1042416" cy="594360"/>
          </a:xfrm>
          <a:prstGeom prst="rect">
            <a:avLst/>
          </a:prstGeom>
          <a:noFill/>
          <a:ln/>
        </p:spPr>
        <p:txBody>
          <a:bodyPr wrap="square" lIns="0" tIns="0" rIns="0" bIns="0" rtlCol="0" anchor="ctr"/>
          <a:lstStyle/>
          <a:p>
            <a:pPr algn="ctr" indent="0" marL="0">
              <a:buNone/>
            </a:pPr>
            <a:r>
              <a:rPr lang="en-US" sz="1050" dirty="0">
                <a:solidFill>
                  <a:srgbClr val="1E293B"/>
                </a:solidFill>
              </a:rPr>
              <a:t>Class hierarchy</a:t>
            </a:r>
            <a:endParaRPr lang="en-US" sz="1050" dirty="0"/>
          </a:p>
        </p:txBody>
      </p:sp>
      <p:sp>
        <p:nvSpPr>
          <p:cNvPr id="13" name="Shape 11"/>
          <p:cNvSpPr/>
          <p:nvPr/>
        </p:nvSpPr>
        <p:spPr>
          <a:xfrm>
            <a:off x="4014216" y="1600200"/>
            <a:ext cx="1115568" cy="1051560"/>
          </a:xfrm>
          <a:prstGeom prst="roundRect">
            <a:avLst>
              <a:gd name="adj" fmla="val 5217"/>
            </a:avLst>
          </a:prstGeom>
          <a:solidFill>
            <a:srgbClr val="EAF5F6"/>
          </a:solidFill>
          <a:ln/>
          <a:effectLst>
            <a:outerShdw sx="100000" sy="100000" kx="0" ky="0" algn="bl" rotWithShape="0" blurRad="76200" dist="25400" dir="2700000">
              <a:srgbClr val="000000">
                <a:alpha val="12000"/>
              </a:srgbClr>
            </a:outerShdw>
          </a:effectLst>
        </p:spPr>
      </p:sp>
      <p:sp>
        <p:nvSpPr>
          <p:cNvPr id="14" name="Text 12"/>
          <p:cNvSpPr/>
          <p:nvPr/>
        </p:nvSpPr>
        <p:spPr>
          <a:xfrm>
            <a:off x="4014216" y="1673352"/>
            <a:ext cx="1115568" cy="365760"/>
          </a:xfrm>
          <a:prstGeom prst="rect">
            <a:avLst/>
          </a:prstGeom>
          <a:noFill/>
          <a:ln/>
        </p:spPr>
        <p:txBody>
          <a:bodyPr wrap="square" lIns="0" tIns="0" rIns="0" bIns="0" rtlCol="0" anchor="ctr"/>
          <a:lstStyle/>
          <a:p>
            <a:pPr algn="ctr" indent="0" marL="0">
              <a:buNone/>
            </a:pPr>
            <a:r>
              <a:rPr lang="en-US" sz="2200" b="1" dirty="0">
                <a:solidFill>
                  <a:srgbClr val="028090"/>
                </a:solidFill>
              </a:rPr>
              <a:t>4</a:t>
            </a:r>
            <a:endParaRPr lang="en-US" sz="2200" dirty="0"/>
          </a:p>
        </p:txBody>
      </p:sp>
      <p:sp>
        <p:nvSpPr>
          <p:cNvPr id="15" name="Text 13"/>
          <p:cNvSpPr/>
          <p:nvPr/>
        </p:nvSpPr>
        <p:spPr>
          <a:xfrm>
            <a:off x="4050792" y="2011680"/>
            <a:ext cx="1042416" cy="594360"/>
          </a:xfrm>
          <a:prstGeom prst="rect">
            <a:avLst/>
          </a:prstGeom>
          <a:noFill/>
          <a:ln/>
        </p:spPr>
        <p:txBody>
          <a:bodyPr wrap="square" lIns="0" tIns="0" rIns="0" bIns="0" rtlCol="0" anchor="ctr"/>
          <a:lstStyle/>
          <a:p>
            <a:pPr algn="ctr" indent="0" marL="0">
              <a:buNone/>
            </a:pPr>
            <a:r>
              <a:rPr lang="en-US" sz="1050" dirty="0">
                <a:solidFill>
                  <a:srgbClr val="1E293B"/>
                </a:solidFill>
              </a:rPr>
              <a:t>Properties</a:t>
            </a:r>
            <a:endParaRPr lang="en-US" sz="1050" dirty="0"/>
          </a:p>
        </p:txBody>
      </p:sp>
      <p:sp>
        <p:nvSpPr>
          <p:cNvPr id="16" name="Shape 14"/>
          <p:cNvSpPr/>
          <p:nvPr/>
        </p:nvSpPr>
        <p:spPr>
          <a:xfrm>
            <a:off x="5184648" y="1600200"/>
            <a:ext cx="1115568" cy="1051560"/>
          </a:xfrm>
          <a:prstGeom prst="roundRect">
            <a:avLst>
              <a:gd name="adj" fmla="val 5217"/>
            </a:avLst>
          </a:prstGeom>
          <a:solidFill>
            <a:srgbClr val="EAF5F6"/>
          </a:solidFill>
          <a:ln/>
          <a:effectLst>
            <a:outerShdw sx="100000" sy="100000" kx="0" ky="0" algn="bl" rotWithShape="0" blurRad="76200" dist="25400" dir="2700000">
              <a:srgbClr val="000000">
                <a:alpha val="12000"/>
              </a:srgbClr>
            </a:outerShdw>
          </a:effectLst>
        </p:spPr>
      </p:sp>
      <p:sp>
        <p:nvSpPr>
          <p:cNvPr id="17" name="Text 15"/>
          <p:cNvSpPr/>
          <p:nvPr/>
        </p:nvSpPr>
        <p:spPr>
          <a:xfrm>
            <a:off x="5184648" y="1673352"/>
            <a:ext cx="1115568" cy="365760"/>
          </a:xfrm>
          <a:prstGeom prst="rect">
            <a:avLst/>
          </a:prstGeom>
          <a:noFill/>
          <a:ln/>
        </p:spPr>
        <p:txBody>
          <a:bodyPr wrap="square" lIns="0" tIns="0" rIns="0" bIns="0" rtlCol="0" anchor="ctr"/>
          <a:lstStyle/>
          <a:p>
            <a:pPr algn="ctr" indent="0" marL="0">
              <a:buNone/>
            </a:pPr>
            <a:r>
              <a:rPr lang="en-US" sz="2200" b="1" dirty="0">
                <a:solidFill>
                  <a:srgbClr val="028090"/>
                </a:solidFill>
              </a:rPr>
              <a:t>5</a:t>
            </a:r>
            <a:endParaRPr lang="en-US" sz="2200" dirty="0"/>
          </a:p>
        </p:txBody>
      </p:sp>
      <p:sp>
        <p:nvSpPr>
          <p:cNvPr id="18" name="Text 16"/>
          <p:cNvSpPr/>
          <p:nvPr/>
        </p:nvSpPr>
        <p:spPr>
          <a:xfrm>
            <a:off x="5221224" y="2011680"/>
            <a:ext cx="1042416" cy="594360"/>
          </a:xfrm>
          <a:prstGeom prst="rect">
            <a:avLst/>
          </a:prstGeom>
          <a:noFill/>
          <a:ln/>
        </p:spPr>
        <p:txBody>
          <a:bodyPr wrap="square" lIns="0" tIns="0" rIns="0" bIns="0" rtlCol="0" anchor="ctr"/>
          <a:lstStyle/>
          <a:p>
            <a:pPr algn="ctr" indent="0" marL="0">
              <a:buNone/>
            </a:pPr>
            <a:r>
              <a:rPr lang="en-US" sz="1050" dirty="0">
                <a:solidFill>
                  <a:srgbClr val="1E293B"/>
                </a:solidFill>
              </a:rPr>
              <a:t>Restrictions</a:t>
            </a:r>
            <a:endParaRPr lang="en-US" sz="1050" dirty="0"/>
          </a:p>
        </p:txBody>
      </p:sp>
      <p:sp>
        <p:nvSpPr>
          <p:cNvPr id="19" name="Shape 17"/>
          <p:cNvSpPr/>
          <p:nvPr/>
        </p:nvSpPr>
        <p:spPr>
          <a:xfrm>
            <a:off x="6355080" y="1600200"/>
            <a:ext cx="1115568" cy="1051560"/>
          </a:xfrm>
          <a:prstGeom prst="roundRect">
            <a:avLst>
              <a:gd name="adj" fmla="val 5217"/>
            </a:avLst>
          </a:prstGeom>
          <a:solidFill>
            <a:srgbClr val="EAF5F6"/>
          </a:solidFill>
          <a:ln/>
          <a:effectLst>
            <a:outerShdw sx="100000" sy="100000" kx="0" ky="0" algn="bl" rotWithShape="0" blurRad="76200" dist="25400" dir="2700000">
              <a:srgbClr val="000000">
                <a:alpha val="12000"/>
              </a:srgbClr>
            </a:outerShdw>
          </a:effectLst>
        </p:spPr>
      </p:sp>
      <p:sp>
        <p:nvSpPr>
          <p:cNvPr id="20" name="Text 18"/>
          <p:cNvSpPr/>
          <p:nvPr/>
        </p:nvSpPr>
        <p:spPr>
          <a:xfrm>
            <a:off x="6355080" y="1673352"/>
            <a:ext cx="1115568" cy="365760"/>
          </a:xfrm>
          <a:prstGeom prst="rect">
            <a:avLst/>
          </a:prstGeom>
          <a:noFill/>
          <a:ln/>
        </p:spPr>
        <p:txBody>
          <a:bodyPr wrap="square" lIns="0" tIns="0" rIns="0" bIns="0" rtlCol="0" anchor="ctr"/>
          <a:lstStyle/>
          <a:p>
            <a:pPr algn="ctr" indent="0" marL="0">
              <a:buNone/>
            </a:pPr>
            <a:r>
              <a:rPr lang="en-US" sz="2200" b="1" dirty="0">
                <a:solidFill>
                  <a:srgbClr val="028090"/>
                </a:solidFill>
              </a:rPr>
              <a:t>6</a:t>
            </a:r>
            <a:endParaRPr lang="en-US" sz="2200" dirty="0"/>
          </a:p>
        </p:txBody>
      </p:sp>
      <p:sp>
        <p:nvSpPr>
          <p:cNvPr id="21" name="Text 19"/>
          <p:cNvSpPr/>
          <p:nvPr/>
        </p:nvSpPr>
        <p:spPr>
          <a:xfrm>
            <a:off x="6391656" y="2011680"/>
            <a:ext cx="1042416" cy="594360"/>
          </a:xfrm>
          <a:prstGeom prst="rect">
            <a:avLst/>
          </a:prstGeom>
          <a:noFill/>
          <a:ln/>
        </p:spPr>
        <p:txBody>
          <a:bodyPr wrap="square" lIns="0" tIns="0" rIns="0" bIns="0" rtlCol="0" anchor="ctr"/>
          <a:lstStyle/>
          <a:p>
            <a:pPr algn="ctr" indent="0" marL="0">
              <a:buNone/>
            </a:pPr>
            <a:r>
              <a:rPr lang="en-US" sz="1050" dirty="0">
                <a:solidFill>
                  <a:srgbClr val="1E293B"/>
                </a:solidFill>
              </a:rPr>
              <a:t>Individuals</a:t>
            </a:r>
            <a:endParaRPr lang="en-US" sz="1050" dirty="0"/>
          </a:p>
        </p:txBody>
      </p:sp>
      <p:sp>
        <p:nvSpPr>
          <p:cNvPr id="22" name="Shape 20"/>
          <p:cNvSpPr/>
          <p:nvPr/>
        </p:nvSpPr>
        <p:spPr>
          <a:xfrm>
            <a:off x="7525512" y="1600200"/>
            <a:ext cx="1115568" cy="1051560"/>
          </a:xfrm>
          <a:prstGeom prst="roundRect">
            <a:avLst>
              <a:gd name="adj" fmla="val 5217"/>
            </a:avLst>
          </a:prstGeom>
          <a:solidFill>
            <a:srgbClr val="028090"/>
          </a:solidFill>
          <a:ln/>
          <a:effectLst>
            <a:outerShdw sx="100000" sy="100000" kx="0" ky="0" algn="bl" rotWithShape="0" blurRad="76200" dist="25400" dir="2700000">
              <a:srgbClr val="000000">
                <a:alpha val="12000"/>
              </a:srgbClr>
            </a:outerShdw>
          </a:effectLst>
        </p:spPr>
      </p:sp>
      <p:sp>
        <p:nvSpPr>
          <p:cNvPr id="23" name="Text 21"/>
          <p:cNvSpPr/>
          <p:nvPr/>
        </p:nvSpPr>
        <p:spPr>
          <a:xfrm>
            <a:off x="7525512" y="1673352"/>
            <a:ext cx="1115568" cy="365760"/>
          </a:xfrm>
          <a:prstGeom prst="rect">
            <a:avLst/>
          </a:prstGeom>
          <a:noFill/>
          <a:ln/>
        </p:spPr>
        <p:txBody>
          <a:bodyPr wrap="square" lIns="0" tIns="0" rIns="0" bIns="0" rtlCol="0" anchor="ctr"/>
          <a:lstStyle/>
          <a:p>
            <a:pPr algn="ctr" indent="0" marL="0">
              <a:buNone/>
            </a:pPr>
            <a:r>
              <a:rPr lang="en-US" sz="2200" b="1" dirty="0">
                <a:solidFill>
                  <a:srgbClr val="FFFFFF"/>
                </a:solidFill>
              </a:rPr>
              <a:t>7</a:t>
            </a:r>
            <a:endParaRPr lang="en-US" sz="2200" dirty="0"/>
          </a:p>
        </p:txBody>
      </p:sp>
      <p:sp>
        <p:nvSpPr>
          <p:cNvPr id="24" name="Text 22"/>
          <p:cNvSpPr/>
          <p:nvPr/>
        </p:nvSpPr>
        <p:spPr>
          <a:xfrm>
            <a:off x="7562088" y="2011680"/>
            <a:ext cx="1042416" cy="594360"/>
          </a:xfrm>
          <a:prstGeom prst="rect">
            <a:avLst/>
          </a:prstGeom>
          <a:noFill/>
          <a:ln/>
        </p:spPr>
        <p:txBody>
          <a:bodyPr wrap="square" lIns="0" tIns="0" rIns="0" bIns="0" rtlCol="0" anchor="ctr"/>
          <a:lstStyle/>
          <a:p>
            <a:pPr algn="ctr" indent="0" marL="0">
              <a:buNone/>
            </a:pPr>
            <a:r>
              <a:rPr lang="en-US" sz="1050" dirty="0">
                <a:solidFill>
                  <a:srgbClr val="FFFFFF"/>
                </a:solidFill>
              </a:rPr>
              <a:t>Reason &amp; iterate</a:t>
            </a:r>
            <a:endParaRPr lang="en-US" sz="1050" dirty="0"/>
          </a:p>
        </p:txBody>
      </p:sp>
      <p:sp>
        <p:nvSpPr>
          <p:cNvPr id="25" name="Shape 23"/>
          <p:cNvSpPr/>
          <p:nvPr/>
        </p:nvSpPr>
        <p:spPr>
          <a:xfrm>
            <a:off x="548640" y="2971800"/>
            <a:ext cx="8046720" cy="1554480"/>
          </a:xfrm>
          <a:prstGeom prst="roundRect">
            <a:avLst>
              <a:gd name="adj" fmla="val 4706"/>
            </a:avLst>
          </a:prstGeom>
          <a:solidFill>
            <a:srgbClr val="EAF5F6"/>
          </a:solidFill>
          <a:ln/>
          <a:effectLst>
            <a:outerShdw sx="100000" sy="100000" kx="0" ky="0" algn="bl" rotWithShape="0" blurRad="76200" dist="25400" dir="2700000">
              <a:srgbClr val="000000">
                <a:alpha val="12000"/>
              </a:srgbClr>
            </a:outerShdw>
          </a:effectLst>
        </p:spPr>
      </p:sp>
      <p:sp>
        <p:nvSpPr>
          <p:cNvPr id="26" name="Shape 24"/>
          <p:cNvSpPr/>
          <p:nvPr/>
        </p:nvSpPr>
        <p:spPr>
          <a:xfrm>
            <a:off x="777240" y="3200400"/>
            <a:ext cx="502920" cy="502920"/>
          </a:xfrm>
          <a:prstGeom prst="ellipse">
            <a:avLst/>
          </a:prstGeom>
          <a:solidFill>
            <a:srgbClr val="FFFFFF"/>
          </a:solidFill>
          <a:ln/>
        </p:spPr>
      </p:sp>
      <p:pic>
        <p:nvPicPr>
          <p:cNvPr id="27" name="Image 0" descr="preencoded.png">    </p:cNvPr>
          <p:cNvPicPr>
            <a:picLocks noChangeAspect="1"/>
          </p:cNvPicPr>
          <p:nvPr/>
        </p:nvPicPr>
        <p:blipFill>
          <a:blip r:embed="rId1"/>
          <a:stretch>
            <a:fillRect/>
          </a:stretch>
        </p:blipFill>
        <p:spPr>
          <a:xfrm>
            <a:off x="887882" y="3311042"/>
            <a:ext cx="281635" cy="281635"/>
          </a:xfrm>
          <a:prstGeom prst="rect">
            <a:avLst/>
          </a:prstGeom>
        </p:spPr>
      </p:pic>
      <p:sp>
        <p:nvSpPr>
          <p:cNvPr id="28" name="Text 25"/>
          <p:cNvSpPr/>
          <p:nvPr/>
        </p:nvSpPr>
        <p:spPr>
          <a:xfrm>
            <a:off x="1463040" y="3154680"/>
            <a:ext cx="6858000" cy="365760"/>
          </a:xfrm>
          <a:prstGeom prst="rect">
            <a:avLst/>
          </a:prstGeom>
          <a:noFill/>
          <a:ln/>
        </p:spPr>
        <p:txBody>
          <a:bodyPr wrap="square" lIns="0" tIns="0" rIns="0" bIns="0" rtlCol="0" anchor="ctr"/>
          <a:lstStyle/>
          <a:p>
            <a:pPr indent="0" marL="0">
              <a:buNone/>
            </a:pPr>
            <a:r>
              <a:rPr lang="en-US" sz="1600" b="1" dirty="0">
                <a:solidFill>
                  <a:srgbClr val="1E293B"/>
                </a:solidFill>
              </a:rPr>
              <a:t>The reasoner caught real mistakes</a:t>
            </a:r>
            <a:endParaRPr lang="en-US" sz="1600" dirty="0"/>
          </a:p>
        </p:txBody>
      </p:sp>
      <p:sp>
        <p:nvSpPr>
          <p:cNvPr id="29" name="Text 26"/>
          <p:cNvSpPr/>
          <p:nvPr/>
        </p:nvSpPr>
        <p:spPr>
          <a:xfrm>
            <a:off x="1463040" y="3520440"/>
            <a:ext cx="6858000" cy="868680"/>
          </a:xfrm>
          <a:prstGeom prst="rect">
            <a:avLst/>
          </a:prstGeom>
          <a:noFill/>
          <a:ln/>
        </p:spPr>
        <p:txBody>
          <a:bodyPr wrap="square" lIns="0" tIns="0" rIns="0" bIns="0" rtlCol="0" anchor="ctr"/>
          <a:lstStyle/>
          <a:p>
            <a:pPr indent="0" marL="0">
              <a:buNone/>
            </a:pPr>
            <a:r>
              <a:rPr lang="en-US" sz="1300" dirty="0">
                <a:solidFill>
                  <a:srgbClr val="5B6B7C"/>
                </a:solidFill>
              </a:rPr>
              <a:t>A functional isConnectedTo clashed with Gateway_Main bridging two networks → HermiT reported an inconsistency → axiom revised and the decision documented. Errors surface as logical contradictions, not silent modelling debt.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E293B"/>
                </a:solidFill>
                <a:latin typeface="Arial" pitchFamily="34" charset="0"/>
                <a:ea typeface="Arial" pitchFamily="34" charset="-122"/>
                <a:cs typeface="Arial" pitchFamily="34" charset="-120"/>
              </a:rPr>
              <a:t>Class Hierarchy Overview</a:t>
            </a:r>
            <a:endParaRPr lang="en-US" sz="3000" dirty="0"/>
          </a:p>
        </p:txBody>
      </p:sp>
      <p:sp>
        <p:nvSpPr>
          <p:cNvPr id="3" name="Shape 1"/>
          <p:cNvSpPr/>
          <p:nvPr/>
        </p:nvSpPr>
        <p:spPr>
          <a:xfrm>
            <a:off x="502920" y="1051560"/>
            <a:ext cx="5120640" cy="3611880"/>
          </a:xfrm>
          <a:prstGeom prst="roundRect">
            <a:avLst>
              <a:gd name="adj" fmla="val 2025"/>
            </a:avLst>
          </a:prstGeom>
          <a:solidFill>
            <a:srgbClr val="EAF5F6"/>
          </a:solidFill>
          <a:ln/>
          <a:effectLst>
            <a:outerShdw sx="100000" sy="100000" kx="0" ky="0" algn="bl" rotWithShape="0" blurRad="76200" dist="25400" dir="2700000">
              <a:srgbClr val="000000">
                <a:alpha val="12000"/>
              </a:srgbClr>
            </a:outerShdw>
          </a:effectLst>
        </p:spPr>
      </p:sp>
      <p:sp>
        <p:nvSpPr>
          <p:cNvPr id="4" name="Text 2"/>
          <p:cNvSpPr/>
          <p:nvPr/>
        </p:nvSpPr>
        <p:spPr>
          <a:xfrm>
            <a:off x="731520" y="1234440"/>
            <a:ext cx="4754880" cy="3291840"/>
          </a:xfrm>
          <a:prstGeom prst="rect">
            <a:avLst/>
          </a:prstGeom>
          <a:noFill/>
          <a:ln/>
        </p:spPr>
        <p:txBody>
          <a:bodyPr wrap="square" lIns="0" tIns="0" rIns="0" bIns="0" rtlCol="0" anchor="ctr"/>
          <a:lstStyle/>
          <a:p>
            <a:pPr indent="0" marL="0">
              <a:lnSpc>
                <a:spcPct val="125000"/>
              </a:lnSpc>
              <a:buNone/>
            </a:pPr>
            <a:r>
              <a:rPr lang="en-US" sz="1250" b="1" dirty="0">
                <a:solidFill>
                  <a:srgbClr val="028090"/>
                </a:solidFill>
                <a:latin typeface="Courier New" pitchFamily="34" charset="0"/>
                <a:ea typeface="Courier New" pitchFamily="34" charset="-122"/>
                <a:cs typeface="Courier New" pitchFamily="34" charset="-120"/>
              </a:rPr>
              <a:t>owl:Thing</a:t>
            </a:r>
            <a:endParaRPr lang="en-US" sz="1250" dirty="0"/>
          </a:p>
          <a:p>
            <a:pPr indent="0" marL="0">
              <a:lnSpc>
                <a:spcPct val="125000"/>
              </a:lnSpc>
              <a:buNone/>
            </a:pPr>
            <a:r>
              <a:rPr lang="en-US" sz="1250" dirty="0">
                <a:solidFill>
                  <a:srgbClr val="1E293B"/>
                </a:solidFill>
                <a:latin typeface="Courier New" pitchFamily="34" charset="0"/>
                <a:ea typeface="Courier New" pitchFamily="34" charset="-122"/>
                <a:cs typeface="Courier New" pitchFamily="34" charset="-120"/>
              </a:rPr>
              <a:t>  Device — Sensor · Actuator · Gateway · Controller · HybridDevice</a:t>
            </a:r>
            <a:endParaRPr lang="en-US" sz="1250" dirty="0"/>
          </a:p>
          <a:p>
            <a:pPr indent="0" marL="0">
              <a:lnSpc>
                <a:spcPct val="125000"/>
              </a:lnSpc>
              <a:buNone/>
            </a:pPr>
            <a:r>
              <a:rPr lang="en-US" sz="1250" dirty="0">
                <a:solidFill>
                  <a:srgbClr val="5B6B7C"/>
                </a:solidFill>
                <a:latin typeface="Courier New" pitchFamily="34" charset="0"/>
                <a:ea typeface="Courier New" pitchFamily="34" charset="-122"/>
                <a:cs typeface="Courier New" pitchFamily="34" charset="-120"/>
              </a:rPr>
              <a:t>    Sensor → Temperature · Motion · Humidity · Smoke · Light · CO2</a:t>
            </a:r>
            <a:endParaRPr lang="en-US" sz="1250" dirty="0"/>
          </a:p>
          <a:p>
            <a:pPr indent="0" marL="0">
              <a:lnSpc>
                <a:spcPct val="125000"/>
              </a:lnSpc>
              <a:buNone/>
            </a:pPr>
            <a:r>
              <a:rPr lang="en-US" sz="1250" dirty="0">
                <a:solidFill>
                  <a:srgbClr val="5B6B7C"/>
                </a:solidFill>
                <a:latin typeface="Courier New" pitchFamily="34" charset="0"/>
                <a:ea typeface="Courier New" pitchFamily="34" charset="-122"/>
                <a:cs typeface="Courier New" pitchFamily="34" charset="-120"/>
              </a:rPr>
              <a:t>    Actuator → Light · Lock · Thermostat · Plug · Camera · Blinds</a:t>
            </a:r>
            <a:endParaRPr lang="en-US" sz="1250" dirty="0"/>
          </a:p>
          <a:p>
            <a:pPr indent="0" marL="0">
              <a:lnSpc>
                <a:spcPct val="125000"/>
              </a:lnSpc>
              <a:buNone/>
            </a:pPr>
            <a:r>
              <a:rPr lang="en-US" sz="1250" dirty="0">
                <a:solidFill>
                  <a:srgbClr val="1E293B"/>
                </a:solidFill>
                <a:latin typeface="Courier New" pitchFamily="34" charset="0"/>
                <a:ea typeface="Courier New" pitchFamily="34" charset="-122"/>
                <a:cs typeface="Courier New" pitchFamily="34" charset="-120"/>
              </a:rPr>
              <a:t>  Room — Bedroom · Kitchen · LivingRoom · Bathroom · Garage · Hallway</a:t>
            </a:r>
            <a:endParaRPr lang="en-US" sz="1250" dirty="0"/>
          </a:p>
          <a:p>
            <a:pPr indent="0" marL="0">
              <a:lnSpc>
                <a:spcPct val="125000"/>
              </a:lnSpc>
              <a:buNone/>
            </a:pPr>
            <a:r>
              <a:rPr lang="en-US" sz="1250" dirty="0">
                <a:solidFill>
                  <a:srgbClr val="1E293B"/>
                </a:solidFill>
                <a:latin typeface="Courier New" pitchFamily="34" charset="0"/>
                <a:ea typeface="Courier New" pitchFamily="34" charset="-122"/>
                <a:cs typeface="Courier New" pitchFamily="34" charset="-120"/>
              </a:rPr>
              <a:t>  HomeNetwork — WiFi · Zigbee · Bluetooth · Z-Wave</a:t>
            </a:r>
            <a:endParaRPr lang="en-US" sz="1250" dirty="0"/>
          </a:p>
          <a:p>
            <a:pPr indent="0" marL="0">
              <a:lnSpc>
                <a:spcPct val="125000"/>
              </a:lnSpc>
              <a:buNone/>
            </a:pPr>
            <a:r>
              <a:rPr lang="en-US" sz="1250" dirty="0">
                <a:solidFill>
                  <a:srgbClr val="1E293B"/>
                </a:solidFill>
                <a:latin typeface="Courier New" pitchFamily="34" charset="0"/>
                <a:ea typeface="Courier New" pitchFamily="34" charset="-122"/>
                <a:cs typeface="Courier New" pitchFamily="34" charset="-120"/>
              </a:rPr>
              <a:t>  User — Admin · Guest · Child · NonAdmin</a:t>
            </a:r>
            <a:endParaRPr lang="en-US" sz="1250" dirty="0"/>
          </a:p>
          <a:p>
            <a:pPr indent="0" marL="0">
              <a:lnSpc>
                <a:spcPct val="125000"/>
              </a:lnSpc>
              <a:buNone/>
            </a:pPr>
            <a:r>
              <a:rPr lang="en-US" sz="1250" dirty="0">
                <a:solidFill>
                  <a:srgbClr val="1E293B"/>
                </a:solidFill>
                <a:latin typeface="Courier New" pitchFamily="34" charset="0"/>
                <a:ea typeface="Courier New" pitchFamily="34" charset="-122"/>
                <a:cs typeface="Courier New" pitchFamily="34" charset="-120"/>
              </a:rPr>
              <a:t>  Event — Security · Environment · User · Device</a:t>
            </a:r>
            <a:endParaRPr lang="en-US" sz="1250" dirty="0"/>
          </a:p>
          <a:p>
            <a:pPr indent="0" marL="0">
              <a:lnSpc>
                <a:spcPct val="125000"/>
              </a:lnSpc>
              <a:buNone/>
            </a:pPr>
            <a:r>
              <a:rPr lang="en-US" sz="1250" dirty="0">
                <a:solidFill>
                  <a:srgbClr val="1E293B"/>
                </a:solidFill>
                <a:latin typeface="Courier New" pitchFamily="34" charset="0"/>
                <a:ea typeface="Courier New" pitchFamily="34" charset="-122"/>
                <a:cs typeface="Courier New" pitchFamily="34" charset="-120"/>
              </a:rPr>
              <a:t>  AutomationRule</a:t>
            </a:r>
            <a:endParaRPr lang="en-US" sz="1250" dirty="0"/>
          </a:p>
        </p:txBody>
      </p:sp>
      <p:sp>
        <p:nvSpPr>
          <p:cNvPr id="5" name="Shape 3"/>
          <p:cNvSpPr/>
          <p:nvPr/>
        </p:nvSpPr>
        <p:spPr>
          <a:xfrm>
            <a:off x="5852160" y="1051560"/>
            <a:ext cx="2788920" cy="1097280"/>
          </a:xfrm>
          <a:prstGeom prst="roundRect">
            <a:avLst>
              <a:gd name="adj" fmla="val 6667"/>
            </a:avLst>
          </a:prstGeom>
          <a:solidFill>
            <a:srgbClr val="028090"/>
          </a:solidFill>
          <a:ln/>
          <a:effectLst>
            <a:outerShdw sx="100000" sy="100000" kx="0" ky="0" algn="bl" rotWithShape="0" blurRad="76200" dist="25400" dir="2700000">
              <a:srgbClr val="000000">
                <a:alpha val="12000"/>
              </a:srgbClr>
            </a:outerShdw>
          </a:effectLst>
        </p:spPr>
      </p:sp>
      <p:sp>
        <p:nvSpPr>
          <p:cNvPr id="6" name="Text 4"/>
          <p:cNvSpPr/>
          <p:nvPr/>
        </p:nvSpPr>
        <p:spPr>
          <a:xfrm>
            <a:off x="5989320" y="1161288"/>
            <a:ext cx="1005840" cy="868680"/>
          </a:xfrm>
          <a:prstGeom prst="rect">
            <a:avLst/>
          </a:prstGeom>
          <a:noFill/>
          <a:ln/>
        </p:spPr>
        <p:txBody>
          <a:bodyPr wrap="square" lIns="0" tIns="0" rIns="0" bIns="0" rtlCol="0" anchor="ctr"/>
          <a:lstStyle/>
          <a:p>
            <a:pPr indent="0" marL="0">
              <a:buNone/>
            </a:pPr>
            <a:r>
              <a:rPr lang="en-US" sz="4400" b="1" dirty="0">
                <a:solidFill>
                  <a:srgbClr val="FFFFFF"/>
                </a:solidFill>
              </a:rPr>
              <a:t>46</a:t>
            </a:r>
            <a:endParaRPr lang="en-US" sz="4400" dirty="0"/>
          </a:p>
        </p:txBody>
      </p:sp>
      <p:sp>
        <p:nvSpPr>
          <p:cNvPr id="7" name="Text 5"/>
          <p:cNvSpPr/>
          <p:nvPr/>
        </p:nvSpPr>
        <p:spPr>
          <a:xfrm>
            <a:off x="6995160" y="1161288"/>
            <a:ext cx="1554480" cy="868680"/>
          </a:xfrm>
          <a:prstGeom prst="rect">
            <a:avLst/>
          </a:prstGeom>
          <a:noFill/>
          <a:ln/>
        </p:spPr>
        <p:txBody>
          <a:bodyPr wrap="square" lIns="0" tIns="0" rIns="0" bIns="0" rtlCol="0" anchor="ctr"/>
          <a:lstStyle/>
          <a:p>
            <a:pPr indent="0" marL="0">
              <a:buNone/>
            </a:pPr>
            <a:r>
              <a:rPr lang="en-US" sz="1300" dirty="0">
                <a:solidFill>
                  <a:srgbClr val="FFFFFF"/>
                </a:solidFill>
              </a:rPr>
              <a:t>classes, 3–4 levels deep</a:t>
            </a:r>
            <a:endParaRPr lang="en-US" sz="1300" dirty="0"/>
          </a:p>
        </p:txBody>
      </p:sp>
      <p:sp>
        <p:nvSpPr>
          <p:cNvPr id="8" name="Shape 6"/>
          <p:cNvSpPr/>
          <p:nvPr/>
        </p:nvSpPr>
        <p:spPr>
          <a:xfrm>
            <a:off x="5852160" y="2286000"/>
            <a:ext cx="2788920" cy="1097280"/>
          </a:xfrm>
          <a:prstGeom prst="roundRect">
            <a:avLst>
              <a:gd name="adj" fmla="val 6667"/>
            </a:avLst>
          </a:prstGeom>
          <a:solidFill>
            <a:srgbClr val="FFFFFF"/>
          </a:solidFill>
          <a:ln w="12700">
            <a:solidFill>
              <a:srgbClr val="D7E6E8"/>
            </a:solidFill>
            <a:prstDash val="solid"/>
          </a:ln>
          <a:effectLst>
            <a:outerShdw sx="100000" sy="100000" kx="0" ky="0" algn="bl" rotWithShape="0" blurRad="76200" dist="25400" dir="2700000">
              <a:srgbClr val="000000">
                <a:alpha val="12000"/>
              </a:srgbClr>
            </a:outerShdw>
          </a:effectLst>
        </p:spPr>
      </p:sp>
      <p:sp>
        <p:nvSpPr>
          <p:cNvPr id="9" name="Text 7"/>
          <p:cNvSpPr/>
          <p:nvPr/>
        </p:nvSpPr>
        <p:spPr>
          <a:xfrm>
            <a:off x="5989320" y="2395728"/>
            <a:ext cx="1005840" cy="868680"/>
          </a:xfrm>
          <a:prstGeom prst="rect">
            <a:avLst/>
          </a:prstGeom>
          <a:noFill/>
          <a:ln/>
        </p:spPr>
        <p:txBody>
          <a:bodyPr wrap="square" lIns="0" tIns="0" rIns="0" bIns="0" rtlCol="0" anchor="ctr"/>
          <a:lstStyle/>
          <a:p>
            <a:pPr indent="0" marL="0">
              <a:buNone/>
            </a:pPr>
            <a:r>
              <a:rPr lang="en-US" sz="4400" b="1" dirty="0">
                <a:solidFill>
                  <a:srgbClr val="028090"/>
                </a:solidFill>
              </a:rPr>
              <a:t>6</a:t>
            </a:r>
            <a:endParaRPr lang="en-US" sz="4400" dirty="0"/>
          </a:p>
        </p:txBody>
      </p:sp>
      <p:sp>
        <p:nvSpPr>
          <p:cNvPr id="10" name="Text 8"/>
          <p:cNvSpPr/>
          <p:nvPr/>
        </p:nvSpPr>
        <p:spPr>
          <a:xfrm>
            <a:off x="6995160" y="2395728"/>
            <a:ext cx="1554480" cy="868680"/>
          </a:xfrm>
          <a:prstGeom prst="rect">
            <a:avLst/>
          </a:prstGeom>
          <a:noFill/>
          <a:ln/>
        </p:spPr>
        <p:txBody>
          <a:bodyPr wrap="square" lIns="0" tIns="0" rIns="0" bIns="0" rtlCol="0" anchor="ctr"/>
          <a:lstStyle/>
          <a:p>
            <a:pPr indent="0" marL="0">
              <a:buNone/>
            </a:pPr>
            <a:r>
              <a:rPr lang="en-US" sz="1300" dirty="0">
                <a:solidFill>
                  <a:srgbClr val="5B6B7C"/>
                </a:solidFill>
              </a:rPr>
              <a:t>disjoint top categories</a:t>
            </a:r>
            <a:endParaRPr lang="en-US" sz="1300" dirty="0"/>
          </a:p>
        </p:txBody>
      </p:sp>
      <p:sp>
        <p:nvSpPr>
          <p:cNvPr id="11" name="Shape 9"/>
          <p:cNvSpPr/>
          <p:nvPr/>
        </p:nvSpPr>
        <p:spPr>
          <a:xfrm>
            <a:off x="5852160" y="3520440"/>
            <a:ext cx="2788920" cy="1097280"/>
          </a:xfrm>
          <a:prstGeom prst="roundRect">
            <a:avLst>
              <a:gd name="adj" fmla="val 6667"/>
            </a:avLst>
          </a:prstGeom>
          <a:solidFill>
            <a:srgbClr val="FFFFFF"/>
          </a:solidFill>
          <a:ln w="12700">
            <a:solidFill>
              <a:srgbClr val="D7E6E8"/>
            </a:solidFill>
            <a:prstDash val="solid"/>
          </a:ln>
          <a:effectLst>
            <a:outerShdw sx="100000" sy="100000" kx="0" ky="0" algn="bl" rotWithShape="0" blurRad="76200" dist="25400" dir="2700000">
              <a:srgbClr val="000000">
                <a:alpha val="12000"/>
              </a:srgbClr>
            </a:outerShdw>
          </a:effectLst>
        </p:spPr>
      </p:sp>
      <p:sp>
        <p:nvSpPr>
          <p:cNvPr id="12" name="Text 10"/>
          <p:cNvSpPr/>
          <p:nvPr/>
        </p:nvSpPr>
        <p:spPr>
          <a:xfrm>
            <a:off x="5989320" y="3630168"/>
            <a:ext cx="1005840" cy="868680"/>
          </a:xfrm>
          <a:prstGeom prst="rect">
            <a:avLst/>
          </a:prstGeom>
          <a:noFill/>
          <a:ln/>
        </p:spPr>
        <p:txBody>
          <a:bodyPr wrap="square" lIns="0" tIns="0" rIns="0" bIns="0" rtlCol="0" anchor="ctr"/>
          <a:lstStyle/>
          <a:p>
            <a:pPr indent="0" marL="0">
              <a:buNone/>
            </a:pPr>
            <a:r>
              <a:rPr lang="en-US" sz="4400" b="1" dirty="0">
                <a:solidFill>
                  <a:srgbClr val="028090"/>
                </a:solidFill>
              </a:rPr>
              <a:t>8</a:t>
            </a:r>
            <a:endParaRPr lang="en-US" sz="4400" dirty="0"/>
          </a:p>
        </p:txBody>
      </p:sp>
      <p:sp>
        <p:nvSpPr>
          <p:cNvPr id="13" name="Text 11"/>
          <p:cNvSpPr/>
          <p:nvPr/>
        </p:nvSpPr>
        <p:spPr>
          <a:xfrm>
            <a:off x="6995160" y="3630168"/>
            <a:ext cx="1554480" cy="868680"/>
          </a:xfrm>
          <a:prstGeom prst="rect">
            <a:avLst/>
          </a:prstGeom>
          <a:noFill/>
          <a:ln/>
        </p:spPr>
        <p:txBody>
          <a:bodyPr wrap="square" lIns="0" tIns="0" rIns="0" bIns="0" rtlCol="0" anchor="ctr"/>
          <a:lstStyle/>
          <a:p>
            <a:pPr indent="0" marL="0">
              <a:buNone/>
            </a:pPr>
            <a:r>
              <a:rPr lang="en-US" sz="1300" dirty="0">
                <a:solidFill>
                  <a:srgbClr val="5B6B7C"/>
                </a:solidFill>
              </a:rPr>
              <a:t>defined classes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E293B"/>
                </a:solidFill>
                <a:latin typeface="Arial" pitchFamily="34" charset="0"/>
                <a:ea typeface="Arial" pitchFamily="34" charset="-122"/>
                <a:cs typeface="Arial" pitchFamily="34" charset="-120"/>
              </a:rPr>
              <a:t>Object Properties &amp; Characteristics</a:t>
            </a:r>
            <a:endParaRPr lang="en-US" sz="3000" dirty="0"/>
          </a:p>
        </p:txBody>
      </p:sp>
      <p:sp>
        <p:nvSpPr>
          <p:cNvPr id="3" name="Text 1"/>
          <p:cNvSpPr/>
          <p:nvPr/>
        </p:nvSpPr>
        <p:spPr>
          <a:xfrm>
            <a:off x="548640" y="960120"/>
            <a:ext cx="8046720" cy="320040"/>
          </a:xfrm>
          <a:prstGeom prst="rect">
            <a:avLst/>
          </a:prstGeom>
          <a:noFill/>
          <a:ln/>
        </p:spPr>
        <p:txBody>
          <a:bodyPr wrap="square" lIns="0" tIns="0" rIns="0" bIns="0" rtlCol="0" anchor="ctr"/>
          <a:lstStyle/>
          <a:p>
            <a:pPr indent="0" marL="0">
              <a:buNone/>
            </a:pPr>
            <a:r>
              <a:rPr lang="en-US" sz="1400" dirty="0">
                <a:solidFill>
                  <a:srgbClr val="5B6B7C"/>
                </a:solidFill>
              </a:rPr>
              <a:t>18 properties in inverse pairs — every one with explicit domain, range, label and comment</a:t>
            </a:r>
            <a:endParaRPr lang="en-US" sz="1400" dirty="0"/>
          </a:p>
        </p:txBody>
      </p:sp>
      <p:sp>
        <p:nvSpPr>
          <p:cNvPr id="4" name="Shape 2"/>
          <p:cNvSpPr/>
          <p:nvPr/>
        </p:nvSpPr>
        <p:spPr>
          <a:xfrm>
            <a:off x="502920" y="1371600"/>
            <a:ext cx="8138160" cy="731520"/>
          </a:xfrm>
          <a:prstGeom prst="roundRect">
            <a:avLst>
              <a:gd name="adj" fmla="val 7500"/>
            </a:avLst>
          </a:prstGeom>
          <a:solidFill>
            <a:srgbClr val="EAF5F6"/>
          </a:solidFill>
          <a:ln/>
          <a:effectLst>
            <a:outerShdw sx="100000" sy="100000" kx="0" ky="0" algn="bl" rotWithShape="0" blurRad="76200" dist="25400" dir="2700000">
              <a:srgbClr val="000000">
                <a:alpha val="12000"/>
              </a:srgbClr>
            </a:outerShdw>
          </a:effectLst>
        </p:spPr>
      </p:sp>
      <p:sp>
        <p:nvSpPr>
          <p:cNvPr id="5" name="Text 3"/>
          <p:cNvSpPr/>
          <p:nvPr/>
        </p:nvSpPr>
        <p:spPr>
          <a:xfrm>
            <a:off x="731520" y="1444752"/>
            <a:ext cx="2377440" cy="274320"/>
          </a:xfrm>
          <a:prstGeom prst="rect">
            <a:avLst/>
          </a:prstGeom>
          <a:noFill/>
          <a:ln/>
        </p:spPr>
        <p:txBody>
          <a:bodyPr wrap="square" lIns="0" tIns="0" rIns="0" bIns="0" rtlCol="0" anchor="ctr"/>
          <a:lstStyle/>
          <a:p>
            <a:pPr indent="0" marL="0">
              <a:buNone/>
            </a:pPr>
            <a:r>
              <a:rPr lang="en-US" sz="1400" b="1" dirty="0">
                <a:solidFill>
                  <a:srgbClr val="028090"/>
                </a:solidFill>
                <a:latin typeface="Courier New" pitchFamily="34" charset="0"/>
                <a:ea typeface="Courier New" pitchFamily="34" charset="-122"/>
                <a:cs typeface="Courier New" pitchFamily="34" charset="-120"/>
              </a:rPr>
              <a:t>isLocatedIn</a:t>
            </a:r>
            <a:endParaRPr lang="en-US" sz="1400" dirty="0"/>
          </a:p>
        </p:txBody>
      </p:sp>
      <p:sp>
        <p:nvSpPr>
          <p:cNvPr id="6" name="Text 4"/>
          <p:cNvSpPr/>
          <p:nvPr/>
        </p:nvSpPr>
        <p:spPr>
          <a:xfrm>
            <a:off x="731520" y="1737360"/>
            <a:ext cx="2377440" cy="274320"/>
          </a:xfrm>
          <a:prstGeom prst="rect">
            <a:avLst/>
          </a:prstGeom>
          <a:noFill/>
          <a:ln/>
        </p:spPr>
        <p:txBody>
          <a:bodyPr wrap="square" lIns="0" tIns="0" rIns="0" bIns="0" rtlCol="0" anchor="ctr"/>
          <a:lstStyle/>
          <a:p>
            <a:pPr indent="0" marL="0">
              <a:buNone/>
            </a:pPr>
            <a:r>
              <a:rPr lang="en-US" sz="1100" i="1" dirty="0">
                <a:solidFill>
                  <a:srgbClr val="5B6B7C"/>
                </a:solidFill>
              </a:rPr>
              <a:t>functional + asymmetric</a:t>
            </a:r>
            <a:endParaRPr lang="en-US" sz="1100" dirty="0"/>
          </a:p>
        </p:txBody>
      </p:sp>
      <p:sp>
        <p:nvSpPr>
          <p:cNvPr id="7" name="Text 5"/>
          <p:cNvSpPr/>
          <p:nvPr/>
        </p:nvSpPr>
        <p:spPr>
          <a:xfrm>
            <a:off x="3246120" y="1444752"/>
            <a:ext cx="5212080" cy="585216"/>
          </a:xfrm>
          <a:prstGeom prst="rect">
            <a:avLst/>
          </a:prstGeom>
          <a:noFill/>
          <a:ln/>
        </p:spPr>
        <p:txBody>
          <a:bodyPr wrap="square" lIns="0" tIns="0" rIns="0" bIns="0" rtlCol="0" anchor="ctr"/>
          <a:lstStyle/>
          <a:p>
            <a:pPr indent="0" marL="0">
              <a:buNone/>
            </a:pPr>
            <a:r>
              <a:rPr lang="en-US" sz="1250" dirty="0">
                <a:solidFill>
                  <a:srgbClr val="1E293B"/>
                </a:solidFill>
              </a:rPr>
              <a:t>a device sits in exactly one room; rooms are never “in” devices</a:t>
            </a:r>
            <a:endParaRPr lang="en-US" sz="1250" dirty="0"/>
          </a:p>
        </p:txBody>
      </p:sp>
      <p:sp>
        <p:nvSpPr>
          <p:cNvPr id="8" name="Shape 6"/>
          <p:cNvSpPr/>
          <p:nvPr/>
        </p:nvSpPr>
        <p:spPr>
          <a:xfrm>
            <a:off x="502920" y="2212848"/>
            <a:ext cx="8138160" cy="731520"/>
          </a:xfrm>
          <a:prstGeom prst="roundRect">
            <a:avLst>
              <a:gd name="adj" fmla="val 7500"/>
            </a:avLst>
          </a:prstGeom>
          <a:solidFill>
            <a:srgbClr val="EAF5F6"/>
          </a:solidFill>
          <a:ln/>
          <a:effectLst>
            <a:outerShdw sx="100000" sy="100000" kx="0" ky="0" algn="bl" rotWithShape="0" blurRad="76200" dist="25400" dir="2700000">
              <a:srgbClr val="000000">
                <a:alpha val="12000"/>
              </a:srgbClr>
            </a:outerShdw>
          </a:effectLst>
        </p:spPr>
      </p:sp>
      <p:sp>
        <p:nvSpPr>
          <p:cNvPr id="9" name="Text 7"/>
          <p:cNvSpPr/>
          <p:nvPr/>
        </p:nvSpPr>
        <p:spPr>
          <a:xfrm>
            <a:off x="731520" y="2286000"/>
            <a:ext cx="2377440" cy="274320"/>
          </a:xfrm>
          <a:prstGeom prst="rect">
            <a:avLst/>
          </a:prstGeom>
          <a:noFill/>
          <a:ln/>
        </p:spPr>
        <p:txBody>
          <a:bodyPr wrap="square" lIns="0" tIns="0" rIns="0" bIns="0" rtlCol="0" anchor="ctr"/>
          <a:lstStyle/>
          <a:p>
            <a:pPr indent="0" marL="0">
              <a:buNone/>
            </a:pPr>
            <a:r>
              <a:rPr lang="en-US" sz="1400" b="1" dirty="0">
                <a:solidFill>
                  <a:srgbClr val="028090"/>
                </a:solidFill>
                <a:latin typeface="Courier New" pitchFamily="34" charset="0"/>
                <a:ea typeface="Courier New" pitchFamily="34" charset="-122"/>
                <a:cs typeface="Courier New" pitchFamily="34" charset="-120"/>
              </a:rPr>
              <a:t>communicatesWith</a:t>
            </a:r>
            <a:endParaRPr lang="en-US" sz="1400" dirty="0"/>
          </a:p>
        </p:txBody>
      </p:sp>
      <p:sp>
        <p:nvSpPr>
          <p:cNvPr id="10" name="Text 8"/>
          <p:cNvSpPr/>
          <p:nvPr/>
        </p:nvSpPr>
        <p:spPr>
          <a:xfrm>
            <a:off x="731520" y="2578608"/>
            <a:ext cx="2377440" cy="274320"/>
          </a:xfrm>
          <a:prstGeom prst="rect">
            <a:avLst/>
          </a:prstGeom>
          <a:noFill/>
          <a:ln/>
        </p:spPr>
        <p:txBody>
          <a:bodyPr wrap="square" lIns="0" tIns="0" rIns="0" bIns="0" rtlCol="0" anchor="ctr"/>
          <a:lstStyle/>
          <a:p>
            <a:pPr indent="0" marL="0">
              <a:buNone/>
            </a:pPr>
            <a:r>
              <a:rPr lang="en-US" sz="1100" i="1" dirty="0">
                <a:solidFill>
                  <a:srgbClr val="5B6B7C"/>
                </a:solidFill>
              </a:rPr>
              <a:t>symmetric</a:t>
            </a:r>
            <a:endParaRPr lang="en-US" sz="1100" dirty="0"/>
          </a:p>
        </p:txBody>
      </p:sp>
      <p:sp>
        <p:nvSpPr>
          <p:cNvPr id="11" name="Text 9"/>
          <p:cNvSpPr/>
          <p:nvPr/>
        </p:nvSpPr>
        <p:spPr>
          <a:xfrm>
            <a:off x="3246120" y="2286000"/>
            <a:ext cx="5212080" cy="585216"/>
          </a:xfrm>
          <a:prstGeom prst="rect">
            <a:avLst/>
          </a:prstGeom>
          <a:noFill/>
          <a:ln/>
        </p:spPr>
        <p:txBody>
          <a:bodyPr wrap="square" lIns="0" tIns="0" rIns="0" bIns="0" rtlCol="0" anchor="ctr"/>
          <a:lstStyle/>
          <a:p>
            <a:pPr indent="0" marL="0">
              <a:buNone/>
            </a:pPr>
            <a:r>
              <a:rPr lang="en-US" sz="1250" dirty="0">
                <a:solidFill>
                  <a:srgbClr val="1E293B"/>
                </a:solidFill>
              </a:rPr>
              <a:t>device communication is mutual — its own inverse</a:t>
            </a:r>
            <a:endParaRPr lang="en-US" sz="1250" dirty="0"/>
          </a:p>
        </p:txBody>
      </p:sp>
      <p:sp>
        <p:nvSpPr>
          <p:cNvPr id="12" name="Shape 10"/>
          <p:cNvSpPr/>
          <p:nvPr/>
        </p:nvSpPr>
        <p:spPr>
          <a:xfrm>
            <a:off x="502920" y="3054096"/>
            <a:ext cx="8138160" cy="731520"/>
          </a:xfrm>
          <a:prstGeom prst="roundRect">
            <a:avLst>
              <a:gd name="adj" fmla="val 7500"/>
            </a:avLst>
          </a:prstGeom>
          <a:solidFill>
            <a:srgbClr val="EAF5F6"/>
          </a:solidFill>
          <a:ln/>
          <a:effectLst>
            <a:outerShdw sx="100000" sy="100000" kx="0" ky="0" algn="bl" rotWithShape="0" blurRad="76200" dist="25400" dir="2700000">
              <a:srgbClr val="000000">
                <a:alpha val="12000"/>
              </a:srgbClr>
            </a:outerShdw>
          </a:effectLst>
        </p:spPr>
      </p:sp>
      <p:sp>
        <p:nvSpPr>
          <p:cNvPr id="13" name="Text 11"/>
          <p:cNvSpPr/>
          <p:nvPr/>
        </p:nvSpPr>
        <p:spPr>
          <a:xfrm>
            <a:off x="731520" y="3127248"/>
            <a:ext cx="2377440" cy="274320"/>
          </a:xfrm>
          <a:prstGeom prst="rect">
            <a:avLst/>
          </a:prstGeom>
          <a:noFill/>
          <a:ln/>
        </p:spPr>
        <p:txBody>
          <a:bodyPr wrap="square" lIns="0" tIns="0" rIns="0" bIns="0" rtlCol="0" anchor="ctr"/>
          <a:lstStyle/>
          <a:p>
            <a:pPr indent="0" marL="0">
              <a:buNone/>
            </a:pPr>
            <a:r>
              <a:rPr lang="en-US" sz="1400" b="1" dirty="0">
                <a:solidFill>
                  <a:srgbClr val="028090"/>
                </a:solidFill>
                <a:latin typeface="Courier New" pitchFamily="34" charset="0"/>
                <a:ea typeface="Courier New" pitchFamily="34" charset="-122"/>
                <a:cs typeface="Courier New" pitchFamily="34" charset="-120"/>
              </a:rPr>
              <a:t>hasComponent</a:t>
            </a:r>
            <a:endParaRPr lang="en-US" sz="1400" dirty="0"/>
          </a:p>
        </p:txBody>
      </p:sp>
      <p:sp>
        <p:nvSpPr>
          <p:cNvPr id="14" name="Text 12"/>
          <p:cNvSpPr/>
          <p:nvPr/>
        </p:nvSpPr>
        <p:spPr>
          <a:xfrm>
            <a:off x="731520" y="3419856"/>
            <a:ext cx="2377440" cy="274320"/>
          </a:xfrm>
          <a:prstGeom prst="rect">
            <a:avLst/>
          </a:prstGeom>
          <a:noFill/>
          <a:ln/>
        </p:spPr>
        <p:txBody>
          <a:bodyPr wrap="square" lIns="0" tIns="0" rIns="0" bIns="0" rtlCol="0" anchor="ctr"/>
          <a:lstStyle/>
          <a:p>
            <a:pPr indent="0" marL="0">
              <a:buNone/>
            </a:pPr>
            <a:r>
              <a:rPr lang="en-US" sz="1100" i="1" dirty="0">
                <a:solidFill>
                  <a:srgbClr val="5B6B7C"/>
                </a:solidFill>
              </a:rPr>
              <a:t>transitive</a:t>
            </a:r>
            <a:endParaRPr lang="en-US" sz="1100" dirty="0"/>
          </a:p>
        </p:txBody>
      </p:sp>
      <p:sp>
        <p:nvSpPr>
          <p:cNvPr id="15" name="Text 13"/>
          <p:cNvSpPr/>
          <p:nvPr/>
        </p:nvSpPr>
        <p:spPr>
          <a:xfrm>
            <a:off x="3246120" y="3127248"/>
            <a:ext cx="5212080" cy="585216"/>
          </a:xfrm>
          <a:prstGeom prst="rect">
            <a:avLst/>
          </a:prstGeom>
          <a:noFill/>
          <a:ln/>
        </p:spPr>
        <p:txBody>
          <a:bodyPr wrap="square" lIns="0" tIns="0" rIns="0" bIns="0" rtlCol="0" anchor="ctr"/>
          <a:lstStyle/>
          <a:p>
            <a:pPr indent="0" marL="0">
              <a:buNone/>
            </a:pPr>
            <a:r>
              <a:rPr lang="en-US" sz="1250" dirty="0">
                <a:solidFill>
                  <a:srgbClr val="1E293B"/>
                </a:solidFill>
              </a:rPr>
              <a:t>part-whole structure propagates through composite devices</a:t>
            </a:r>
            <a:endParaRPr lang="en-US" sz="1250" dirty="0"/>
          </a:p>
        </p:txBody>
      </p:sp>
      <p:sp>
        <p:nvSpPr>
          <p:cNvPr id="16" name="Shape 14"/>
          <p:cNvSpPr/>
          <p:nvPr/>
        </p:nvSpPr>
        <p:spPr>
          <a:xfrm>
            <a:off x="502920" y="3895344"/>
            <a:ext cx="8138160" cy="731520"/>
          </a:xfrm>
          <a:prstGeom prst="roundRect">
            <a:avLst>
              <a:gd name="adj" fmla="val 7500"/>
            </a:avLst>
          </a:prstGeom>
          <a:solidFill>
            <a:srgbClr val="028090"/>
          </a:solidFill>
          <a:ln/>
          <a:effectLst>
            <a:outerShdw sx="100000" sy="100000" kx="0" ky="0" algn="bl" rotWithShape="0" blurRad="76200" dist="25400" dir="2700000">
              <a:srgbClr val="000000">
                <a:alpha val="12000"/>
              </a:srgbClr>
            </a:outerShdw>
          </a:effectLst>
        </p:spPr>
      </p:sp>
      <p:sp>
        <p:nvSpPr>
          <p:cNvPr id="17" name="Text 15"/>
          <p:cNvSpPr/>
          <p:nvPr/>
        </p:nvSpPr>
        <p:spPr>
          <a:xfrm>
            <a:off x="731520" y="3968496"/>
            <a:ext cx="2377440" cy="274320"/>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isConnectedTo</a:t>
            </a:r>
            <a:endParaRPr lang="en-US" sz="1400" dirty="0"/>
          </a:p>
        </p:txBody>
      </p:sp>
      <p:sp>
        <p:nvSpPr>
          <p:cNvPr id="18" name="Text 16"/>
          <p:cNvSpPr/>
          <p:nvPr/>
        </p:nvSpPr>
        <p:spPr>
          <a:xfrm>
            <a:off x="731520" y="4261104"/>
            <a:ext cx="2377440" cy="274320"/>
          </a:xfrm>
          <a:prstGeom prst="rect">
            <a:avLst/>
          </a:prstGeom>
          <a:noFill/>
          <a:ln/>
        </p:spPr>
        <p:txBody>
          <a:bodyPr wrap="square" lIns="0" tIns="0" rIns="0" bIns="0" rtlCol="0" anchor="ctr"/>
          <a:lstStyle/>
          <a:p>
            <a:pPr indent="0" marL="0">
              <a:buNone/>
            </a:pPr>
            <a:r>
              <a:rPr lang="en-US" sz="1100" i="1" dirty="0">
                <a:solidFill>
                  <a:srgbClr val="BDE8E3"/>
                </a:solidFill>
              </a:rPr>
              <a:t>NOT functional (by design)</a:t>
            </a:r>
            <a:endParaRPr lang="en-US" sz="1100" dirty="0"/>
          </a:p>
        </p:txBody>
      </p:sp>
      <p:sp>
        <p:nvSpPr>
          <p:cNvPr id="19" name="Text 17"/>
          <p:cNvSpPr/>
          <p:nvPr/>
        </p:nvSpPr>
        <p:spPr>
          <a:xfrm>
            <a:off x="3246120" y="3968496"/>
            <a:ext cx="5212080" cy="585216"/>
          </a:xfrm>
          <a:prstGeom prst="rect">
            <a:avLst/>
          </a:prstGeom>
          <a:noFill/>
          <a:ln/>
        </p:spPr>
        <p:txBody>
          <a:bodyPr wrap="square" lIns="0" tIns="0" rIns="0" bIns="0" rtlCol="0" anchor="ctr"/>
          <a:lstStyle/>
          <a:p>
            <a:pPr indent="0" marL="0">
              <a:buNone/>
            </a:pPr>
            <a:r>
              <a:rPr lang="en-US" sz="1250" dirty="0">
                <a:solidFill>
                  <a:srgbClr val="FFFFFF"/>
                </a:solidFill>
              </a:rPr>
              <a:t>Gateway_Main bridges Wi-Fi and Zigbee — the reasoner refuted functionality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E293B"/>
                </a:solidFill>
                <a:latin typeface="Arial" pitchFamily="34" charset="0"/>
                <a:ea typeface="Arial" pitchFamily="34" charset="-122"/>
                <a:cs typeface="Arial" pitchFamily="34" charset="-120"/>
              </a:rPr>
              <a:t>Data Properties &amp; XSD Datatypes</a:t>
            </a:r>
            <a:endParaRPr lang="en-US" sz="3000" dirty="0"/>
          </a:p>
        </p:txBody>
      </p:sp>
      <p:sp>
        <p:nvSpPr>
          <p:cNvPr id="3" name="Shape 1"/>
          <p:cNvSpPr/>
          <p:nvPr/>
        </p:nvSpPr>
        <p:spPr>
          <a:xfrm>
            <a:off x="502920" y="1097280"/>
            <a:ext cx="3977640" cy="1371600"/>
          </a:xfrm>
          <a:prstGeom prst="roundRect">
            <a:avLst>
              <a:gd name="adj" fmla="val 5333"/>
            </a:avLst>
          </a:prstGeom>
          <a:solidFill>
            <a:srgbClr val="FFFFFF"/>
          </a:solidFill>
          <a:ln w="12700">
            <a:solidFill>
              <a:srgbClr val="D7E6E8"/>
            </a:solidFill>
            <a:prstDash val="solid"/>
          </a:ln>
          <a:effectLst>
            <a:outerShdw sx="100000" sy="100000" kx="0" ky="0" algn="bl" rotWithShape="0" blurRad="76200" dist="25400" dir="2700000">
              <a:srgbClr val="000000">
                <a:alpha val="12000"/>
              </a:srgbClr>
            </a:outerShdw>
          </a:effectLst>
        </p:spPr>
      </p:sp>
      <p:sp>
        <p:nvSpPr>
          <p:cNvPr id="4" name="Text 2"/>
          <p:cNvSpPr/>
          <p:nvPr/>
        </p:nvSpPr>
        <p:spPr>
          <a:xfrm>
            <a:off x="685800" y="1188720"/>
            <a:ext cx="3657600" cy="274320"/>
          </a:xfrm>
          <a:prstGeom prst="rect">
            <a:avLst/>
          </a:prstGeom>
          <a:noFill/>
          <a:ln/>
        </p:spPr>
        <p:txBody>
          <a:bodyPr wrap="square" lIns="0" tIns="0" rIns="0" bIns="0" rtlCol="0" anchor="ctr"/>
          <a:lstStyle/>
          <a:p>
            <a:pPr indent="0" marL="0">
              <a:buNone/>
            </a:pPr>
            <a:r>
              <a:rPr lang="en-US" sz="1400" b="1" dirty="0">
                <a:solidFill>
                  <a:srgbClr val="028090"/>
                </a:solidFill>
                <a:latin typeface="Courier New" pitchFamily="34" charset="0"/>
                <a:ea typeface="Courier New" pitchFamily="34" charset="-122"/>
                <a:cs typeface="Courier New" pitchFamily="34" charset="-120"/>
              </a:rPr>
              <a:t>xsd:integer</a:t>
            </a:r>
            <a:endParaRPr lang="en-US" sz="1400" dirty="0"/>
          </a:p>
        </p:txBody>
      </p:sp>
      <p:sp>
        <p:nvSpPr>
          <p:cNvPr id="5" name="Text 3"/>
          <p:cNvSpPr/>
          <p:nvPr/>
        </p:nvSpPr>
        <p:spPr>
          <a:xfrm>
            <a:off x="685800" y="1508760"/>
            <a:ext cx="3657600" cy="868680"/>
          </a:xfrm>
          <a:prstGeom prst="rect">
            <a:avLst/>
          </a:prstGeom>
          <a:noFill/>
          <a:ln/>
        </p:spPr>
        <p:txBody>
          <a:bodyPr wrap="square" lIns="0" tIns="0" rIns="0" bIns="0" rtlCol="0" anchor="ctr"/>
          <a:lstStyle/>
          <a:p>
            <a:pPr indent="0" marL="0">
              <a:buNone/>
            </a:pPr>
            <a:r>
              <a:rPr lang="en-US" sz="1150" dirty="0">
                <a:solidFill>
                  <a:srgbClr val="1E293B"/>
                </a:solidFill>
              </a:rPr>
              <a:t>hasBatteryLevel (functional)  ·  hasAge (functional)  ·  hasPriority  ·  hasMaxOccupancy</a:t>
            </a:r>
            <a:endParaRPr lang="en-US" sz="1150" dirty="0"/>
          </a:p>
        </p:txBody>
      </p:sp>
      <p:sp>
        <p:nvSpPr>
          <p:cNvPr id="6" name="Shape 4"/>
          <p:cNvSpPr/>
          <p:nvPr/>
        </p:nvSpPr>
        <p:spPr>
          <a:xfrm>
            <a:off x="4663440" y="1097280"/>
            <a:ext cx="3977640" cy="1371600"/>
          </a:xfrm>
          <a:prstGeom prst="roundRect">
            <a:avLst>
              <a:gd name="adj" fmla="val 5333"/>
            </a:avLst>
          </a:prstGeom>
          <a:solidFill>
            <a:srgbClr val="FFFFFF"/>
          </a:solidFill>
          <a:ln w="12700">
            <a:solidFill>
              <a:srgbClr val="D7E6E8"/>
            </a:solidFill>
            <a:prstDash val="solid"/>
          </a:ln>
          <a:effectLst>
            <a:outerShdw sx="100000" sy="100000" kx="0" ky="0" algn="bl" rotWithShape="0" blurRad="76200" dist="25400" dir="2700000">
              <a:srgbClr val="000000">
                <a:alpha val="12000"/>
              </a:srgbClr>
            </a:outerShdw>
          </a:effectLst>
        </p:spPr>
      </p:sp>
      <p:sp>
        <p:nvSpPr>
          <p:cNvPr id="7" name="Text 5"/>
          <p:cNvSpPr/>
          <p:nvPr/>
        </p:nvSpPr>
        <p:spPr>
          <a:xfrm>
            <a:off x="4846320" y="1188720"/>
            <a:ext cx="3657600" cy="274320"/>
          </a:xfrm>
          <a:prstGeom prst="rect">
            <a:avLst/>
          </a:prstGeom>
          <a:noFill/>
          <a:ln/>
        </p:spPr>
        <p:txBody>
          <a:bodyPr wrap="square" lIns="0" tIns="0" rIns="0" bIns="0" rtlCol="0" anchor="ctr"/>
          <a:lstStyle/>
          <a:p>
            <a:pPr indent="0" marL="0">
              <a:buNone/>
            </a:pPr>
            <a:r>
              <a:rPr lang="en-US" sz="1400" b="1" dirty="0">
                <a:solidFill>
                  <a:srgbClr val="028090"/>
                </a:solidFill>
                <a:latin typeface="Courier New" pitchFamily="34" charset="0"/>
                <a:ea typeface="Courier New" pitchFamily="34" charset="-122"/>
                <a:cs typeface="Courier New" pitchFamily="34" charset="-120"/>
              </a:rPr>
              <a:t>xsd:float</a:t>
            </a:r>
            <a:endParaRPr lang="en-US" sz="1400" dirty="0"/>
          </a:p>
        </p:txBody>
      </p:sp>
      <p:sp>
        <p:nvSpPr>
          <p:cNvPr id="8" name="Text 6"/>
          <p:cNvSpPr/>
          <p:nvPr/>
        </p:nvSpPr>
        <p:spPr>
          <a:xfrm>
            <a:off x="4846320" y="1508760"/>
            <a:ext cx="3657600" cy="868680"/>
          </a:xfrm>
          <a:prstGeom prst="rect">
            <a:avLst/>
          </a:prstGeom>
          <a:noFill/>
          <a:ln/>
        </p:spPr>
        <p:txBody>
          <a:bodyPr wrap="square" lIns="0" tIns="0" rIns="0" bIns="0" rtlCol="0" anchor="ctr"/>
          <a:lstStyle/>
          <a:p>
            <a:pPr indent="0" marL="0">
              <a:buNone/>
            </a:pPr>
            <a:r>
              <a:rPr lang="en-US" sz="1150" dirty="0">
                <a:solidFill>
                  <a:srgbClr val="1E293B"/>
                </a:solidFill>
              </a:rPr>
              <a:t>hasTemperatureReading  ·  hasHumidityReading  ·  hasEnergyConsumption  ·  hasFloorArea</a:t>
            </a:r>
            <a:endParaRPr lang="en-US" sz="1150" dirty="0"/>
          </a:p>
        </p:txBody>
      </p:sp>
      <p:sp>
        <p:nvSpPr>
          <p:cNvPr id="9" name="Shape 7"/>
          <p:cNvSpPr/>
          <p:nvPr/>
        </p:nvSpPr>
        <p:spPr>
          <a:xfrm>
            <a:off x="502920" y="2578608"/>
            <a:ext cx="3977640" cy="1371600"/>
          </a:xfrm>
          <a:prstGeom prst="roundRect">
            <a:avLst>
              <a:gd name="adj" fmla="val 5333"/>
            </a:avLst>
          </a:prstGeom>
          <a:solidFill>
            <a:srgbClr val="FFFFFF"/>
          </a:solidFill>
          <a:ln w="12700">
            <a:solidFill>
              <a:srgbClr val="D7E6E8"/>
            </a:solidFill>
            <a:prstDash val="solid"/>
          </a:ln>
          <a:effectLst>
            <a:outerShdw sx="100000" sy="100000" kx="0" ky="0" algn="bl" rotWithShape="0" blurRad="76200" dist="25400" dir="2700000">
              <a:srgbClr val="000000">
                <a:alpha val="12000"/>
              </a:srgbClr>
            </a:outerShdw>
          </a:effectLst>
        </p:spPr>
      </p:sp>
      <p:sp>
        <p:nvSpPr>
          <p:cNvPr id="10" name="Text 8"/>
          <p:cNvSpPr/>
          <p:nvPr/>
        </p:nvSpPr>
        <p:spPr>
          <a:xfrm>
            <a:off x="685800" y="2670048"/>
            <a:ext cx="3657600" cy="274320"/>
          </a:xfrm>
          <a:prstGeom prst="rect">
            <a:avLst/>
          </a:prstGeom>
          <a:noFill/>
          <a:ln/>
        </p:spPr>
        <p:txBody>
          <a:bodyPr wrap="square" lIns="0" tIns="0" rIns="0" bIns="0" rtlCol="0" anchor="ctr"/>
          <a:lstStyle/>
          <a:p>
            <a:pPr indent="0" marL="0">
              <a:buNone/>
            </a:pPr>
            <a:r>
              <a:rPr lang="en-US" sz="1400" b="1" dirty="0">
                <a:solidFill>
                  <a:srgbClr val="028090"/>
                </a:solidFill>
                <a:latin typeface="Courier New" pitchFamily="34" charset="0"/>
                <a:ea typeface="Courier New" pitchFamily="34" charset="-122"/>
                <a:cs typeface="Courier New" pitchFamily="34" charset="-120"/>
              </a:rPr>
              <a:t>xsd:string</a:t>
            </a:r>
            <a:endParaRPr lang="en-US" sz="1400" dirty="0"/>
          </a:p>
        </p:txBody>
      </p:sp>
      <p:sp>
        <p:nvSpPr>
          <p:cNvPr id="11" name="Text 9"/>
          <p:cNvSpPr/>
          <p:nvPr/>
        </p:nvSpPr>
        <p:spPr>
          <a:xfrm>
            <a:off x="685800" y="2990088"/>
            <a:ext cx="3657600" cy="868680"/>
          </a:xfrm>
          <a:prstGeom prst="rect">
            <a:avLst/>
          </a:prstGeom>
          <a:noFill/>
          <a:ln/>
        </p:spPr>
        <p:txBody>
          <a:bodyPr wrap="square" lIns="0" tIns="0" rIns="0" bIns="0" rtlCol="0" anchor="ctr"/>
          <a:lstStyle/>
          <a:p>
            <a:pPr indent="0" marL="0">
              <a:buNone/>
            </a:pPr>
            <a:r>
              <a:rPr lang="en-US" sz="1150" dirty="0">
                <a:solidFill>
                  <a:srgbClr val="1E293B"/>
                </a:solidFill>
              </a:rPr>
              <a:t>hasIPAddress (functional)  ·  hasManufacturer  ·  hasFirmwareVersion  ·  hasSSID</a:t>
            </a:r>
            <a:endParaRPr lang="en-US" sz="1150" dirty="0"/>
          </a:p>
        </p:txBody>
      </p:sp>
      <p:sp>
        <p:nvSpPr>
          <p:cNvPr id="12" name="Shape 10"/>
          <p:cNvSpPr/>
          <p:nvPr/>
        </p:nvSpPr>
        <p:spPr>
          <a:xfrm>
            <a:off x="4663440" y="2578608"/>
            <a:ext cx="3977640" cy="1371600"/>
          </a:xfrm>
          <a:prstGeom prst="roundRect">
            <a:avLst>
              <a:gd name="adj" fmla="val 5333"/>
            </a:avLst>
          </a:prstGeom>
          <a:solidFill>
            <a:srgbClr val="FFFFFF"/>
          </a:solidFill>
          <a:ln w="12700">
            <a:solidFill>
              <a:srgbClr val="D7E6E8"/>
            </a:solidFill>
            <a:prstDash val="solid"/>
          </a:ln>
          <a:effectLst>
            <a:outerShdw sx="100000" sy="100000" kx="0" ky="0" algn="bl" rotWithShape="0" blurRad="76200" dist="25400" dir="2700000">
              <a:srgbClr val="000000">
                <a:alpha val="12000"/>
              </a:srgbClr>
            </a:outerShdw>
          </a:effectLst>
        </p:spPr>
      </p:sp>
      <p:sp>
        <p:nvSpPr>
          <p:cNvPr id="13" name="Text 11"/>
          <p:cNvSpPr/>
          <p:nvPr/>
        </p:nvSpPr>
        <p:spPr>
          <a:xfrm>
            <a:off x="4846320" y="2670048"/>
            <a:ext cx="3657600" cy="274320"/>
          </a:xfrm>
          <a:prstGeom prst="rect">
            <a:avLst/>
          </a:prstGeom>
          <a:noFill/>
          <a:ln/>
        </p:spPr>
        <p:txBody>
          <a:bodyPr wrap="square" lIns="0" tIns="0" rIns="0" bIns="0" rtlCol="0" anchor="ctr"/>
          <a:lstStyle/>
          <a:p>
            <a:pPr indent="0" marL="0">
              <a:buNone/>
            </a:pPr>
            <a:r>
              <a:rPr lang="en-US" sz="1400" b="1" dirty="0">
                <a:solidFill>
                  <a:srgbClr val="028090"/>
                </a:solidFill>
                <a:latin typeface="Courier New" pitchFamily="34" charset="0"/>
                <a:ea typeface="Courier New" pitchFamily="34" charset="-122"/>
                <a:cs typeface="Courier New" pitchFamily="34" charset="-120"/>
              </a:rPr>
              <a:t>xsd:boolean / dateTime</a:t>
            </a:r>
            <a:endParaRPr lang="en-US" sz="1400" dirty="0"/>
          </a:p>
        </p:txBody>
      </p:sp>
      <p:sp>
        <p:nvSpPr>
          <p:cNvPr id="14" name="Text 12"/>
          <p:cNvSpPr/>
          <p:nvPr/>
        </p:nvSpPr>
        <p:spPr>
          <a:xfrm>
            <a:off x="4846320" y="2990088"/>
            <a:ext cx="3657600" cy="868680"/>
          </a:xfrm>
          <a:prstGeom prst="rect">
            <a:avLst/>
          </a:prstGeom>
          <a:noFill/>
          <a:ln/>
        </p:spPr>
        <p:txBody>
          <a:bodyPr wrap="square" lIns="0" tIns="0" rIns="0" bIns="0" rtlCol="0" anchor="ctr"/>
          <a:lstStyle/>
          <a:p>
            <a:pPr indent="0" marL="0">
              <a:buNone/>
            </a:pPr>
            <a:r>
              <a:rPr lang="en-US" sz="1150" dirty="0">
                <a:solidFill>
                  <a:srgbClr val="1E293B"/>
                </a:solidFill>
              </a:rPr>
              <a:t>isOnline (functional)  ·  hasInstallationDate  ·  hasTimestamp</a:t>
            </a:r>
            <a:endParaRPr lang="en-US" sz="1150" dirty="0"/>
          </a:p>
        </p:txBody>
      </p:sp>
      <p:sp>
        <p:nvSpPr>
          <p:cNvPr id="15" name="Shape 13"/>
          <p:cNvSpPr/>
          <p:nvPr/>
        </p:nvSpPr>
        <p:spPr>
          <a:xfrm>
            <a:off x="502920" y="4114800"/>
            <a:ext cx="8138160" cy="685800"/>
          </a:xfrm>
          <a:prstGeom prst="roundRect">
            <a:avLst>
              <a:gd name="adj" fmla="val 8000"/>
            </a:avLst>
          </a:prstGeom>
          <a:solidFill>
            <a:srgbClr val="EAF5F6"/>
          </a:solidFill>
          <a:ln/>
        </p:spPr>
      </p:sp>
      <p:sp>
        <p:nvSpPr>
          <p:cNvPr id="16" name="Text 14"/>
          <p:cNvSpPr/>
          <p:nvPr/>
        </p:nvSpPr>
        <p:spPr>
          <a:xfrm>
            <a:off x="731520" y="4187952"/>
            <a:ext cx="7772400" cy="548640"/>
          </a:xfrm>
          <a:prstGeom prst="rect">
            <a:avLst/>
          </a:prstGeom>
          <a:noFill/>
          <a:ln/>
        </p:spPr>
        <p:txBody>
          <a:bodyPr wrap="square" lIns="0" tIns="0" rIns="0" bIns="0" rtlCol="0" anchor="ctr"/>
          <a:lstStyle/>
          <a:p>
            <a:pPr indent="0" marL="0">
              <a:buNone/>
            </a:pPr>
            <a:r>
              <a:rPr lang="en-US" sz="1350" b="1" dirty="0">
                <a:solidFill>
                  <a:srgbClr val="1E293B"/>
                </a:solidFill>
              </a:rPr>
              <a:t>Datatypes drive classification: </a:t>
            </a:r>
            <a:pPr indent="0" marL="0">
              <a:buNone/>
            </a:pPr>
            <a:r>
              <a:rPr lang="en-US" sz="1350" dirty="0">
                <a:solidFill>
                  <a:srgbClr val="1E293B"/>
                </a:solidFill>
              </a:rPr>
              <a:t>hasAge &lt; 18 → ChildUser   ·   hasBatteryLevel ≤ 20 → LowBatteryDevice  (OWL 2 facets)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E293B"/>
                </a:solidFill>
                <a:latin typeface="Arial" pitchFamily="34" charset="0"/>
                <a:ea typeface="Arial" pitchFamily="34" charset="-122"/>
                <a:cs typeface="Arial" pitchFamily="34" charset="-120"/>
              </a:rPr>
              <a:t>Key OWL 2 Axioms (Manchester Syntax)</a:t>
            </a:r>
            <a:endParaRPr lang="en-US" sz="3000" dirty="0"/>
          </a:p>
        </p:txBody>
      </p:sp>
      <p:sp>
        <p:nvSpPr>
          <p:cNvPr id="3" name="Shape 1"/>
          <p:cNvSpPr/>
          <p:nvPr/>
        </p:nvSpPr>
        <p:spPr>
          <a:xfrm>
            <a:off x="502920" y="1097280"/>
            <a:ext cx="3977640" cy="1572768"/>
          </a:xfrm>
          <a:prstGeom prst="roundRect">
            <a:avLst>
              <a:gd name="adj" fmla="val 4651"/>
            </a:avLst>
          </a:prstGeom>
          <a:solidFill>
            <a:srgbClr val="EAF5F6"/>
          </a:solidFill>
          <a:ln/>
          <a:effectLst>
            <a:outerShdw sx="100000" sy="100000" kx="0" ky="0" algn="bl" rotWithShape="0" blurRad="76200" dist="25400" dir="2700000">
              <a:srgbClr val="000000">
                <a:alpha val="12000"/>
              </a:srgbClr>
            </a:outerShdw>
          </a:effectLst>
        </p:spPr>
      </p:sp>
      <p:sp>
        <p:nvSpPr>
          <p:cNvPr id="4" name="Text 2"/>
          <p:cNvSpPr/>
          <p:nvPr/>
        </p:nvSpPr>
        <p:spPr>
          <a:xfrm>
            <a:off x="667512" y="1207008"/>
            <a:ext cx="3703320" cy="1005840"/>
          </a:xfrm>
          <a:prstGeom prst="rect">
            <a:avLst/>
          </a:prstGeom>
          <a:noFill/>
          <a:ln/>
        </p:spPr>
        <p:txBody>
          <a:bodyPr wrap="square" lIns="0" tIns="0" rIns="0" bIns="0" rtlCol="0" anchor="ctr"/>
          <a:lstStyle/>
          <a:p>
            <a:pPr indent="0" marL="0">
              <a:buNone/>
            </a:pPr>
            <a:r>
              <a:rPr lang="en-US" sz="1150" dirty="0">
                <a:solidFill>
                  <a:srgbClr val="1E293B"/>
                </a:solidFill>
                <a:latin typeface="Courier New" pitchFamily="34" charset="0"/>
                <a:ea typeface="Courier New" pitchFamily="34" charset="-122"/>
                <a:cs typeface="Courier New" pitchFamily="34" charset="-120"/>
              </a:rPr>
              <a:t>SmartDevice EquivalentTo</a:t>
            </a:r>
            <a:endParaRPr lang="en-US" sz="1150" dirty="0"/>
          </a:p>
          <a:p>
            <a:pPr indent="0" marL="0">
              <a:buNone/>
            </a:pPr>
            <a:r>
              <a:rPr lang="en-US" sz="1150" dirty="0">
                <a:solidFill>
                  <a:srgbClr val="1E293B"/>
                </a:solidFill>
                <a:latin typeface="Courier New" pitchFamily="34" charset="0"/>
                <a:ea typeface="Courier New" pitchFamily="34" charset="-122"/>
                <a:cs typeface="Courier New" pitchFamily="34" charset="-120"/>
              </a:rPr>
              <a:t>  Device and (isConnectedTo some HomeNetwork)</a:t>
            </a:r>
            <a:endParaRPr lang="en-US" sz="1150" dirty="0"/>
          </a:p>
        </p:txBody>
      </p:sp>
      <p:sp>
        <p:nvSpPr>
          <p:cNvPr id="5" name="Text 3"/>
          <p:cNvSpPr/>
          <p:nvPr/>
        </p:nvSpPr>
        <p:spPr>
          <a:xfrm>
            <a:off x="667512" y="2286000"/>
            <a:ext cx="3703320" cy="292608"/>
          </a:xfrm>
          <a:prstGeom prst="rect">
            <a:avLst/>
          </a:prstGeom>
          <a:noFill/>
          <a:ln/>
        </p:spPr>
        <p:txBody>
          <a:bodyPr wrap="square" lIns="0" tIns="0" rIns="0" bIns="0" rtlCol="0" anchor="ctr"/>
          <a:lstStyle/>
          <a:p>
            <a:pPr indent="0" marL="0">
              <a:buNone/>
            </a:pPr>
            <a:r>
              <a:rPr lang="en-US" sz="1100" b="1" i="1" dirty="0">
                <a:solidFill>
                  <a:srgbClr val="028090"/>
                </a:solidFill>
              </a:rPr>
              <a:t>defined class — membership is inferred</a:t>
            </a:r>
            <a:endParaRPr lang="en-US" sz="1100" dirty="0"/>
          </a:p>
        </p:txBody>
      </p:sp>
      <p:sp>
        <p:nvSpPr>
          <p:cNvPr id="6" name="Shape 4"/>
          <p:cNvSpPr/>
          <p:nvPr/>
        </p:nvSpPr>
        <p:spPr>
          <a:xfrm>
            <a:off x="4663440" y="1097280"/>
            <a:ext cx="3977640" cy="1572768"/>
          </a:xfrm>
          <a:prstGeom prst="roundRect">
            <a:avLst>
              <a:gd name="adj" fmla="val 4651"/>
            </a:avLst>
          </a:prstGeom>
          <a:solidFill>
            <a:srgbClr val="EAF5F6"/>
          </a:solidFill>
          <a:ln/>
          <a:effectLst>
            <a:outerShdw sx="100000" sy="100000" kx="0" ky="0" algn="bl" rotWithShape="0" blurRad="76200" dist="25400" dir="2700000">
              <a:srgbClr val="000000">
                <a:alpha val="12000"/>
              </a:srgbClr>
            </a:outerShdw>
          </a:effectLst>
        </p:spPr>
      </p:sp>
      <p:sp>
        <p:nvSpPr>
          <p:cNvPr id="7" name="Text 5"/>
          <p:cNvSpPr/>
          <p:nvPr/>
        </p:nvSpPr>
        <p:spPr>
          <a:xfrm>
            <a:off x="4828032" y="1207008"/>
            <a:ext cx="3703320" cy="1005840"/>
          </a:xfrm>
          <a:prstGeom prst="rect">
            <a:avLst/>
          </a:prstGeom>
          <a:noFill/>
          <a:ln/>
        </p:spPr>
        <p:txBody>
          <a:bodyPr wrap="square" lIns="0" tIns="0" rIns="0" bIns="0" rtlCol="0" anchor="ctr"/>
          <a:lstStyle/>
          <a:p>
            <a:pPr indent="0" marL="0">
              <a:buNone/>
            </a:pPr>
            <a:r>
              <a:rPr lang="en-US" sz="1150" dirty="0">
                <a:solidFill>
                  <a:srgbClr val="1E293B"/>
                </a:solidFill>
                <a:latin typeface="Courier New" pitchFamily="34" charset="0"/>
                <a:ea typeface="Courier New" pitchFamily="34" charset="-122"/>
                <a:cs typeface="Courier New" pitchFamily="34" charset="-120"/>
              </a:rPr>
              <a:t>HybridDevice EquivalentTo</a:t>
            </a:r>
            <a:endParaRPr lang="en-US" sz="1150" dirty="0"/>
          </a:p>
          <a:p>
            <a:pPr indent="0" marL="0">
              <a:buNone/>
            </a:pPr>
            <a:r>
              <a:rPr lang="en-US" sz="1150" dirty="0">
                <a:solidFill>
                  <a:srgbClr val="1E293B"/>
                </a:solidFill>
                <a:latin typeface="Courier New" pitchFamily="34" charset="0"/>
                <a:ea typeface="Courier New" pitchFamily="34" charset="-122"/>
                <a:cs typeface="Courier New" pitchFamily="34" charset="-120"/>
              </a:rPr>
              <a:t>  Device and (hasComponent some Sensor)</a:t>
            </a:r>
            <a:endParaRPr lang="en-US" sz="1150" dirty="0"/>
          </a:p>
          <a:p>
            <a:pPr indent="0" marL="0">
              <a:buNone/>
            </a:pPr>
            <a:r>
              <a:rPr lang="en-US" sz="1150" dirty="0">
                <a:solidFill>
                  <a:srgbClr val="1E293B"/>
                </a:solidFill>
                <a:latin typeface="Courier New" pitchFamily="34" charset="0"/>
                <a:ea typeface="Courier New" pitchFamily="34" charset="-122"/>
                <a:cs typeface="Courier New" pitchFamily="34" charset="-120"/>
              </a:rPr>
              <a:t>         and (hasComponent some Actuator)</a:t>
            </a:r>
            <a:endParaRPr lang="en-US" sz="1150" dirty="0"/>
          </a:p>
        </p:txBody>
      </p:sp>
      <p:sp>
        <p:nvSpPr>
          <p:cNvPr id="8" name="Text 6"/>
          <p:cNvSpPr/>
          <p:nvPr/>
        </p:nvSpPr>
        <p:spPr>
          <a:xfrm>
            <a:off x="4828032" y="2286000"/>
            <a:ext cx="3703320" cy="292608"/>
          </a:xfrm>
          <a:prstGeom prst="rect">
            <a:avLst/>
          </a:prstGeom>
          <a:noFill/>
          <a:ln/>
        </p:spPr>
        <p:txBody>
          <a:bodyPr wrap="square" lIns="0" tIns="0" rIns="0" bIns="0" rtlCol="0" anchor="ctr"/>
          <a:lstStyle/>
          <a:p>
            <a:pPr indent="0" marL="0">
              <a:buNone/>
            </a:pPr>
            <a:r>
              <a:rPr lang="en-US" sz="1100" b="1" i="1" dirty="0">
                <a:solidFill>
                  <a:srgbClr val="028090"/>
                </a:solidFill>
              </a:rPr>
              <a:t>intersection of existentials</a:t>
            </a:r>
            <a:endParaRPr lang="en-US" sz="1100" dirty="0"/>
          </a:p>
        </p:txBody>
      </p:sp>
      <p:sp>
        <p:nvSpPr>
          <p:cNvPr id="9" name="Shape 7"/>
          <p:cNvSpPr/>
          <p:nvPr/>
        </p:nvSpPr>
        <p:spPr>
          <a:xfrm>
            <a:off x="502920" y="2788920"/>
            <a:ext cx="3977640" cy="1572768"/>
          </a:xfrm>
          <a:prstGeom prst="roundRect">
            <a:avLst>
              <a:gd name="adj" fmla="val 4651"/>
            </a:avLst>
          </a:prstGeom>
          <a:solidFill>
            <a:srgbClr val="EAF5F6"/>
          </a:solidFill>
          <a:ln/>
          <a:effectLst>
            <a:outerShdw sx="100000" sy="100000" kx="0" ky="0" algn="bl" rotWithShape="0" blurRad="76200" dist="25400" dir="2700000">
              <a:srgbClr val="000000">
                <a:alpha val="12000"/>
              </a:srgbClr>
            </a:outerShdw>
          </a:effectLst>
        </p:spPr>
      </p:sp>
      <p:sp>
        <p:nvSpPr>
          <p:cNvPr id="10" name="Text 8"/>
          <p:cNvSpPr/>
          <p:nvPr/>
        </p:nvSpPr>
        <p:spPr>
          <a:xfrm>
            <a:off x="667512" y="2898648"/>
            <a:ext cx="3703320" cy="1005840"/>
          </a:xfrm>
          <a:prstGeom prst="rect">
            <a:avLst/>
          </a:prstGeom>
          <a:noFill/>
          <a:ln/>
        </p:spPr>
        <p:txBody>
          <a:bodyPr wrap="square" lIns="0" tIns="0" rIns="0" bIns="0" rtlCol="0" anchor="ctr"/>
          <a:lstStyle/>
          <a:p>
            <a:pPr indent="0" marL="0">
              <a:buNone/>
            </a:pPr>
            <a:r>
              <a:rPr lang="en-US" sz="1150" dirty="0">
                <a:solidFill>
                  <a:srgbClr val="1E293B"/>
                </a:solidFill>
                <a:latin typeface="Courier New" pitchFamily="34" charset="0"/>
                <a:ea typeface="Courier New" pitchFamily="34" charset="-122"/>
                <a:cs typeface="Courier New" pitchFamily="34" charset="-120"/>
              </a:rPr>
              <a:t>NonAdminUser EquivalentTo</a:t>
            </a:r>
            <a:endParaRPr lang="en-US" sz="1150" dirty="0"/>
          </a:p>
          <a:p>
            <a:pPr indent="0" marL="0">
              <a:buNone/>
            </a:pPr>
            <a:r>
              <a:rPr lang="en-US" sz="1150" dirty="0">
                <a:solidFill>
                  <a:srgbClr val="1E293B"/>
                </a:solidFill>
                <a:latin typeface="Courier New" pitchFamily="34" charset="0"/>
                <a:ea typeface="Courier New" pitchFamily="34" charset="-122"/>
                <a:cs typeface="Courier New" pitchFamily="34" charset="-120"/>
              </a:rPr>
              <a:t>  User and (not AdminUser)</a:t>
            </a:r>
            <a:endParaRPr lang="en-US" sz="1150" dirty="0"/>
          </a:p>
        </p:txBody>
      </p:sp>
      <p:sp>
        <p:nvSpPr>
          <p:cNvPr id="11" name="Text 9"/>
          <p:cNvSpPr/>
          <p:nvPr/>
        </p:nvSpPr>
        <p:spPr>
          <a:xfrm>
            <a:off x="667512" y="3977640"/>
            <a:ext cx="3703320" cy="292608"/>
          </a:xfrm>
          <a:prstGeom prst="rect">
            <a:avLst/>
          </a:prstGeom>
          <a:noFill/>
          <a:ln/>
        </p:spPr>
        <p:txBody>
          <a:bodyPr wrap="square" lIns="0" tIns="0" rIns="0" bIns="0" rtlCol="0" anchor="ctr"/>
          <a:lstStyle/>
          <a:p>
            <a:pPr indent="0" marL="0">
              <a:buNone/>
            </a:pPr>
            <a:r>
              <a:rPr lang="en-US" sz="1100" b="1" i="1" dirty="0">
                <a:solidFill>
                  <a:srgbClr val="028090"/>
                </a:solidFill>
              </a:rPr>
              <a:t>complement</a:t>
            </a:r>
            <a:endParaRPr lang="en-US" sz="1100" dirty="0"/>
          </a:p>
        </p:txBody>
      </p:sp>
      <p:sp>
        <p:nvSpPr>
          <p:cNvPr id="12" name="Shape 10"/>
          <p:cNvSpPr/>
          <p:nvPr/>
        </p:nvSpPr>
        <p:spPr>
          <a:xfrm>
            <a:off x="4663440" y="2788920"/>
            <a:ext cx="3977640" cy="1572768"/>
          </a:xfrm>
          <a:prstGeom prst="roundRect">
            <a:avLst>
              <a:gd name="adj" fmla="val 4651"/>
            </a:avLst>
          </a:prstGeom>
          <a:solidFill>
            <a:srgbClr val="EAF5F6"/>
          </a:solidFill>
          <a:ln/>
          <a:effectLst>
            <a:outerShdw sx="100000" sy="100000" kx="0" ky="0" algn="bl" rotWithShape="0" blurRad="76200" dist="25400" dir="2700000">
              <a:srgbClr val="000000">
                <a:alpha val="12000"/>
              </a:srgbClr>
            </a:outerShdw>
          </a:effectLst>
        </p:spPr>
      </p:sp>
      <p:sp>
        <p:nvSpPr>
          <p:cNvPr id="13" name="Text 11"/>
          <p:cNvSpPr/>
          <p:nvPr/>
        </p:nvSpPr>
        <p:spPr>
          <a:xfrm>
            <a:off x="4828032" y="2898648"/>
            <a:ext cx="3703320" cy="1005840"/>
          </a:xfrm>
          <a:prstGeom prst="rect">
            <a:avLst/>
          </a:prstGeom>
          <a:noFill/>
          <a:ln/>
        </p:spPr>
        <p:txBody>
          <a:bodyPr wrap="square" lIns="0" tIns="0" rIns="0" bIns="0" rtlCol="0" anchor="ctr"/>
          <a:lstStyle/>
          <a:p>
            <a:pPr indent="0" marL="0">
              <a:buNone/>
            </a:pPr>
            <a:r>
              <a:rPr lang="en-US" sz="1150" dirty="0">
                <a:solidFill>
                  <a:srgbClr val="1E293B"/>
                </a:solidFill>
                <a:latin typeface="Courier New" pitchFamily="34" charset="0"/>
                <a:ea typeface="Courier New" pitchFamily="34" charset="-122"/>
                <a:cs typeface="Courier New" pitchFamily="34" charset="-120"/>
              </a:rPr>
              <a:t>LowBatteryDevice EquivalentTo</a:t>
            </a:r>
            <a:endParaRPr lang="en-US" sz="1150" dirty="0"/>
          </a:p>
          <a:p>
            <a:pPr indent="0" marL="0">
              <a:buNone/>
            </a:pPr>
            <a:r>
              <a:rPr lang="en-US" sz="1150" dirty="0">
                <a:solidFill>
                  <a:srgbClr val="1E293B"/>
                </a:solidFill>
                <a:latin typeface="Courier New" pitchFamily="34" charset="0"/>
                <a:ea typeface="Courier New" pitchFamily="34" charset="-122"/>
                <a:cs typeface="Courier New" pitchFamily="34" charset="-120"/>
              </a:rPr>
              <a:t>  Device and (hasBatteryLevel some xsd:integer[&lt;= 20])</a:t>
            </a:r>
            <a:endParaRPr lang="en-US" sz="1150" dirty="0"/>
          </a:p>
        </p:txBody>
      </p:sp>
      <p:sp>
        <p:nvSpPr>
          <p:cNvPr id="14" name="Text 12"/>
          <p:cNvSpPr/>
          <p:nvPr/>
        </p:nvSpPr>
        <p:spPr>
          <a:xfrm>
            <a:off x="4828032" y="3977640"/>
            <a:ext cx="3703320" cy="292608"/>
          </a:xfrm>
          <a:prstGeom prst="rect">
            <a:avLst/>
          </a:prstGeom>
          <a:noFill/>
          <a:ln/>
        </p:spPr>
        <p:txBody>
          <a:bodyPr wrap="square" lIns="0" tIns="0" rIns="0" bIns="0" rtlCol="0" anchor="ctr"/>
          <a:lstStyle/>
          <a:p>
            <a:pPr indent="0" marL="0">
              <a:buNone/>
            </a:pPr>
            <a:r>
              <a:rPr lang="en-US" sz="1100" b="1" i="1" dirty="0">
                <a:solidFill>
                  <a:srgbClr val="028090"/>
                </a:solidFill>
              </a:rPr>
              <a:t>OWL 2 datatype facet</a:t>
            </a:r>
            <a:endParaRPr lang="en-US" sz="1100" dirty="0"/>
          </a:p>
        </p:txBody>
      </p:sp>
      <p:sp>
        <p:nvSpPr>
          <p:cNvPr id="15" name="Text 13"/>
          <p:cNvSpPr/>
          <p:nvPr/>
        </p:nvSpPr>
        <p:spPr>
          <a:xfrm>
            <a:off x="548640" y="4572000"/>
            <a:ext cx="8046720" cy="320040"/>
          </a:xfrm>
          <a:prstGeom prst="rect">
            <a:avLst/>
          </a:prstGeom>
          <a:noFill/>
          <a:ln/>
        </p:spPr>
        <p:txBody>
          <a:bodyPr wrap="square" lIns="0" tIns="0" rIns="0" bIns="0" rtlCol="0" anchor="ctr"/>
          <a:lstStyle/>
          <a:p>
            <a:pPr algn="ctr" indent="0" marL="0">
              <a:buNone/>
            </a:pPr>
            <a:r>
              <a:rPr lang="en-US" sz="1250" dirty="0">
                <a:solidFill>
                  <a:srgbClr val="5B6B7C"/>
                </a:solidFill>
              </a:rPr>
              <a:t>Plus: EnvironmentalSensor and SafetyDevice as unionOf expressions · 8 AllDisjointClasses groups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E293B"/>
                </a:solidFill>
                <a:latin typeface="Arial" pitchFamily="34" charset="0"/>
                <a:ea typeface="Arial" pitchFamily="34" charset="-122"/>
                <a:cs typeface="Arial" pitchFamily="34" charset="-120"/>
              </a:rPr>
              <a:t>ABox: 35 Individuals, One Coherent Home</a:t>
            </a:r>
            <a:endParaRPr lang="en-US" sz="3000" dirty="0"/>
          </a:p>
        </p:txBody>
      </p:sp>
      <p:sp>
        <p:nvSpPr>
          <p:cNvPr id="3" name="Text 1"/>
          <p:cNvSpPr/>
          <p:nvPr/>
        </p:nvSpPr>
        <p:spPr>
          <a:xfrm>
            <a:off x="548640" y="960120"/>
            <a:ext cx="8046720" cy="320040"/>
          </a:xfrm>
          <a:prstGeom prst="rect">
            <a:avLst/>
          </a:prstGeom>
          <a:noFill/>
          <a:ln/>
        </p:spPr>
        <p:txBody>
          <a:bodyPr wrap="square" lIns="0" tIns="0" rIns="0" bIns="0" rtlCol="0" anchor="ctr"/>
          <a:lstStyle/>
          <a:p>
            <a:pPr indent="0" marL="0">
              <a:buNone/>
            </a:pPr>
            <a:r>
              <a:rPr lang="en-US" sz="1400" dirty="0">
                <a:solidFill>
                  <a:srgbClr val="5B6B7C"/>
                </a:solidFill>
              </a:rPr>
              <a:t>6 rooms · 2 networks · 3 users · 19 devices · 4 events · 3 automation rules</a:t>
            </a:r>
            <a:endParaRPr lang="en-US" sz="1400" dirty="0"/>
          </a:p>
        </p:txBody>
      </p:sp>
      <p:sp>
        <p:nvSpPr>
          <p:cNvPr id="4" name="Shape 2"/>
          <p:cNvSpPr/>
          <p:nvPr/>
        </p:nvSpPr>
        <p:spPr>
          <a:xfrm>
            <a:off x="502920" y="1417320"/>
            <a:ext cx="3977640" cy="1207008"/>
          </a:xfrm>
          <a:prstGeom prst="roundRect">
            <a:avLst>
              <a:gd name="adj" fmla="val 6061"/>
            </a:avLst>
          </a:prstGeom>
          <a:solidFill>
            <a:srgbClr val="FFFFFF"/>
          </a:solidFill>
          <a:ln w="12700">
            <a:solidFill>
              <a:srgbClr val="D7E6E8"/>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685800" y="1508760"/>
            <a:ext cx="3657600" cy="292608"/>
          </a:xfrm>
          <a:prstGeom prst="rect">
            <a:avLst/>
          </a:prstGeom>
          <a:noFill/>
          <a:ln/>
        </p:spPr>
        <p:txBody>
          <a:bodyPr wrap="square" lIns="0" tIns="0" rIns="0" bIns="0" rtlCol="0" anchor="ctr"/>
          <a:lstStyle/>
          <a:p>
            <a:pPr indent="0" marL="0">
              <a:buNone/>
            </a:pPr>
            <a:r>
              <a:rPr lang="en-US" sz="1450" b="1" dirty="0">
                <a:solidFill>
                  <a:srgbClr val="028090"/>
                </a:solidFill>
                <a:latin typeface="Courier New" pitchFamily="34" charset="0"/>
                <a:ea typeface="Courier New" pitchFamily="34" charset="-122"/>
                <a:cs typeface="Courier New" pitchFamily="34" charset="-120"/>
              </a:rPr>
              <a:t>TempSensor_Kitchen</a:t>
            </a:r>
            <a:endParaRPr lang="en-US" sz="1450" dirty="0"/>
          </a:p>
        </p:txBody>
      </p:sp>
      <p:sp>
        <p:nvSpPr>
          <p:cNvPr id="6" name="Text 4"/>
          <p:cNvSpPr/>
          <p:nvPr/>
        </p:nvSpPr>
        <p:spPr>
          <a:xfrm>
            <a:off x="685800" y="1819656"/>
            <a:ext cx="3657600" cy="256032"/>
          </a:xfrm>
          <a:prstGeom prst="rect">
            <a:avLst/>
          </a:prstGeom>
          <a:noFill/>
          <a:ln/>
        </p:spPr>
        <p:txBody>
          <a:bodyPr wrap="square" lIns="0" tIns="0" rIns="0" bIns="0" rtlCol="0" anchor="ctr"/>
          <a:lstStyle/>
          <a:p>
            <a:pPr indent="0" marL="0">
              <a:buNone/>
            </a:pPr>
            <a:r>
              <a:rPr lang="en-US" sz="1150" i="1" dirty="0">
                <a:solidFill>
                  <a:srgbClr val="5B6B7C"/>
                </a:solidFill>
              </a:rPr>
              <a:t>TemperatureSensor</a:t>
            </a:r>
            <a:endParaRPr lang="en-US" sz="1150" dirty="0"/>
          </a:p>
        </p:txBody>
      </p:sp>
      <p:sp>
        <p:nvSpPr>
          <p:cNvPr id="7" name="Text 5"/>
          <p:cNvSpPr/>
          <p:nvPr/>
        </p:nvSpPr>
        <p:spPr>
          <a:xfrm>
            <a:off x="685800" y="2093976"/>
            <a:ext cx="3657600" cy="457200"/>
          </a:xfrm>
          <a:prstGeom prst="rect">
            <a:avLst/>
          </a:prstGeom>
          <a:noFill/>
          <a:ln/>
        </p:spPr>
        <p:txBody>
          <a:bodyPr wrap="square" lIns="0" tIns="0" rIns="0" bIns="0" rtlCol="0" anchor="ctr"/>
          <a:lstStyle/>
          <a:p>
            <a:pPr indent="0" marL="0">
              <a:buNone/>
            </a:pPr>
            <a:r>
              <a:rPr lang="en-US" sz="1200" dirty="0">
                <a:solidFill>
                  <a:srgbClr val="1E293B"/>
                </a:solidFill>
              </a:rPr>
              <a:t>in Kitchen · Zigbee · battery 87 · 22.5 °C</a:t>
            </a:r>
            <a:endParaRPr lang="en-US" sz="1200" dirty="0"/>
          </a:p>
        </p:txBody>
      </p:sp>
      <p:sp>
        <p:nvSpPr>
          <p:cNvPr id="8" name="Shape 6"/>
          <p:cNvSpPr/>
          <p:nvPr/>
        </p:nvSpPr>
        <p:spPr>
          <a:xfrm>
            <a:off x="4663440" y="1417320"/>
            <a:ext cx="3977640" cy="1207008"/>
          </a:xfrm>
          <a:prstGeom prst="roundRect">
            <a:avLst>
              <a:gd name="adj" fmla="val 6061"/>
            </a:avLst>
          </a:prstGeom>
          <a:solidFill>
            <a:srgbClr val="FFFFFF"/>
          </a:solidFill>
          <a:ln w="12700">
            <a:solidFill>
              <a:srgbClr val="D7E6E8"/>
            </a:solidFill>
            <a:prstDash val="solid"/>
          </a:ln>
          <a:effectLst>
            <a:outerShdw sx="100000" sy="100000" kx="0" ky="0" algn="bl" rotWithShape="0" blurRad="76200" dist="25400" dir="2700000">
              <a:srgbClr val="000000">
                <a:alpha val="12000"/>
              </a:srgbClr>
            </a:outerShdw>
          </a:effectLst>
        </p:spPr>
      </p:sp>
      <p:sp>
        <p:nvSpPr>
          <p:cNvPr id="9" name="Text 7"/>
          <p:cNvSpPr/>
          <p:nvPr/>
        </p:nvSpPr>
        <p:spPr>
          <a:xfrm>
            <a:off x="4846320" y="1508760"/>
            <a:ext cx="3657600" cy="292608"/>
          </a:xfrm>
          <a:prstGeom prst="rect">
            <a:avLst/>
          </a:prstGeom>
          <a:noFill/>
          <a:ln/>
        </p:spPr>
        <p:txBody>
          <a:bodyPr wrap="square" lIns="0" tIns="0" rIns="0" bIns="0" rtlCol="0" anchor="ctr"/>
          <a:lstStyle/>
          <a:p>
            <a:pPr indent="0" marL="0">
              <a:buNone/>
            </a:pPr>
            <a:r>
              <a:rPr lang="en-US" sz="1450" b="1" dirty="0">
                <a:solidFill>
                  <a:srgbClr val="028090"/>
                </a:solidFill>
                <a:latin typeface="Courier New" pitchFamily="34" charset="0"/>
                <a:ea typeface="Courier New" pitchFamily="34" charset="-122"/>
                <a:cs typeface="Courier New" pitchFamily="34" charset="-120"/>
              </a:rPr>
              <a:t>Gateway_Main</a:t>
            </a:r>
            <a:endParaRPr lang="en-US" sz="1450" dirty="0"/>
          </a:p>
        </p:txBody>
      </p:sp>
      <p:sp>
        <p:nvSpPr>
          <p:cNvPr id="10" name="Text 8"/>
          <p:cNvSpPr/>
          <p:nvPr/>
        </p:nvSpPr>
        <p:spPr>
          <a:xfrm>
            <a:off x="4846320" y="1819656"/>
            <a:ext cx="3657600" cy="256032"/>
          </a:xfrm>
          <a:prstGeom prst="rect">
            <a:avLst/>
          </a:prstGeom>
          <a:noFill/>
          <a:ln/>
        </p:spPr>
        <p:txBody>
          <a:bodyPr wrap="square" lIns="0" tIns="0" rIns="0" bIns="0" rtlCol="0" anchor="ctr"/>
          <a:lstStyle/>
          <a:p>
            <a:pPr indent="0" marL="0">
              <a:buNone/>
            </a:pPr>
            <a:r>
              <a:rPr lang="en-US" sz="1150" i="1" dirty="0">
                <a:solidFill>
                  <a:srgbClr val="5B6B7C"/>
                </a:solidFill>
              </a:rPr>
              <a:t>Gateway</a:t>
            </a:r>
            <a:endParaRPr lang="en-US" sz="1150" dirty="0"/>
          </a:p>
        </p:txBody>
      </p:sp>
      <p:sp>
        <p:nvSpPr>
          <p:cNvPr id="11" name="Text 9"/>
          <p:cNvSpPr/>
          <p:nvPr/>
        </p:nvSpPr>
        <p:spPr>
          <a:xfrm>
            <a:off x="4846320" y="2093976"/>
            <a:ext cx="3657600" cy="457200"/>
          </a:xfrm>
          <a:prstGeom prst="rect">
            <a:avLst/>
          </a:prstGeom>
          <a:noFill/>
          <a:ln/>
        </p:spPr>
        <p:txBody>
          <a:bodyPr wrap="square" lIns="0" tIns="0" rIns="0" bIns="0" rtlCol="0" anchor="ctr"/>
          <a:lstStyle/>
          <a:p>
            <a:pPr indent="0" marL="0">
              <a:buNone/>
            </a:pPr>
            <a:r>
              <a:rPr lang="en-US" sz="1200" dirty="0">
                <a:solidFill>
                  <a:srgbClr val="1E293B"/>
                </a:solidFill>
              </a:rPr>
              <a:t>connected to BOTH networks · IP 192.168.1.10</a:t>
            </a:r>
            <a:endParaRPr lang="en-US" sz="1200" dirty="0"/>
          </a:p>
        </p:txBody>
      </p:sp>
      <p:sp>
        <p:nvSpPr>
          <p:cNvPr id="12" name="Shape 10"/>
          <p:cNvSpPr/>
          <p:nvPr/>
        </p:nvSpPr>
        <p:spPr>
          <a:xfrm>
            <a:off x="502920" y="2743200"/>
            <a:ext cx="3977640" cy="1207008"/>
          </a:xfrm>
          <a:prstGeom prst="roundRect">
            <a:avLst>
              <a:gd name="adj" fmla="val 6061"/>
            </a:avLst>
          </a:prstGeom>
          <a:solidFill>
            <a:srgbClr val="028090"/>
          </a:solidFill>
          <a:ln/>
          <a:effectLst>
            <a:outerShdw sx="100000" sy="100000" kx="0" ky="0" algn="bl" rotWithShape="0" blurRad="76200" dist="25400" dir="2700000">
              <a:srgbClr val="000000">
                <a:alpha val="12000"/>
              </a:srgbClr>
            </a:outerShdw>
          </a:effectLst>
        </p:spPr>
      </p:sp>
      <p:sp>
        <p:nvSpPr>
          <p:cNvPr id="13" name="Text 11"/>
          <p:cNvSpPr/>
          <p:nvPr/>
        </p:nvSpPr>
        <p:spPr>
          <a:xfrm>
            <a:off x="685800" y="2834640"/>
            <a:ext cx="3657600" cy="292608"/>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Marco_Russo</a:t>
            </a:r>
            <a:endParaRPr lang="en-US" sz="1450" dirty="0"/>
          </a:p>
        </p:txBody>
      </p:sp>
      <p:sp>
        <p:nvSpPr>
          <p:cNvPr id="14" name="Text 12"/>
          <p:cNvSpPr/>
          <p:nvPr/>
        </p:nvSpPr>
        <p:spPr>
          <a:xfrm>
            <a:off x="685800" y="3145536"/>
            <a:ext cx="3657600" cy="256032"/>
          </a:xfrm>
          <a:prstGeom prst="rect">
            <a:avLst/>
          </a:prstGeom>
          <a:noFill/>
          <a:ln/>
        </p:spPr>
        <p:txBody>
          <a:bodyPr wrap="square" lIns="0" tIns="0" rIns="0" bIns="0" rtlCol="0" anchor="ctr"/>
          <a:lstStyle/>
          <a:p>
            <a:pPr indent="0" marL="0">
              <a:buNone/>
            </a:pPr>
            <a:r>
              <a:rPr lang="en-US" sz="1150" i="1" dirty="0">
                <a:solidFill>
                  <a:srgbClr val="BDE8E3"/>
                </a:solidFill>
              </a:rPr>
              <a:t>asserted only: User</a:t>
            </a:r>
            <a:endParaRPr lang="en-US" sz="1150" dirty="0"/>
          </a:p>
        </p:txBody>
      </p:sp>
      <p:sp>
        <p:nvSpPr>
          <p:cNvPr id="15" name="Text 13"/>
          <p:cNvSpPr/>
          <p:nvPr/>
        </p:nvSpPr>
        <p:spPr>
          <a:xfrm>
            <a:off x="685800" y="3419856"/>
            <a:ext cx="3657600" cy="457200"/>
          </a:xfrm>
          <a:prstGeom prst="rect">
            <a:avLst/>
          </a:prstGeom>
          <a:noFill/>
          <a:ln/>
        </p:spPr>
        <p:txBody>
          <a:bodyPr wrap="square" lIns="0" tIns="0" rIns="0" bIns="0" rtlCol="0" anchor="ctr"/>
          <a:lstStyle/>
          <a:p>
            <a:pPr indent="0" marL="0">
              <a:buNone/>
            </a:pPr>
            <a:r>
              <a:rPr lang="en-US" sz="1200" dirty="0">
                <a:solidFill>
                  <a:srgbClr val="FFFFFF"/>
                </a:solidFill>
              </a:rPr>
              <a:t>hasAge 9 — type left for the reasoner</a:t>
            </a:r>
            <a:endParaRPr lang="en-US" sz="1200" dirty="0"/>
          </a:p>
        </p:txBody>
      </p:sp>
      <p:sp>
        <p:nvSpPr>
          <p:cNvPr id="16" name="Shape 14"/>
          <p:cNvSpPr/>
          <p:nvPr/>
        </p:nvSpPr>
        <p:spPr>
          <a:xfrm>
            <a:off x="4663440" y="2743200"/>
            <a:ext cx="3977640" cy="1207008"/>
          </a:xfrm>
          <a:prstGeom prst="roundRect">
            <a:avLst>
              <a:gd name="adj" fmla="val 6061"/>
            </a:avLst>
          </a:prstGeom>
          <a:solidFill>
            <a:srgbClr val="028090"/>
          </a:solidFill>
          <a:ln/>
          <a:effectLst>
            <a:outerShdw sx="100000" sy="100000" kx="0" ky="0" algn="bl" rotWithShape="0" blurRad="76200" dist="25400" dir="2700000">
              <a:srgbClr val="000000">
                <a:alpha val="12000"/>
              </a:srgbClr>
            </a:outerShdw>
          </a:effectLst>
        </p:spPr>
      </p:sp>
      <p:sp>
        <p:nvSpPr>
          <p:cNvPr id="17" name="Text 15"/>
          <p:cNvSpPr/>
          <p:nvPr/>
        </p:nvSpPr>
        <p:spPr>
          <a:xfrm>
            <a:off x="4846320" y="2834640"/>
            <a:ext cx="3657600" cy="292608"/>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ClimateStation_Bedroom</a:t>
            </a:r>
            <a:endParaRPr lang="en-US" sz="1450" dirty="0"/>
          </a:p>
        </p:txBody>
      </p:sp>
      <p:sp>
        <p:nvSpPr>
          <p:cNvPr id="18" name="Text 16"/>
          <p:cNvSpPr/>
          <p:nvPr/>
        </p:nvSpPr>
        <p:spPr>
          <a:xfrm>
            <a:off x="4846320" y="3145536"/>
            <a:ext cx="3657600" cy="256032"/>
          </a:xfrm>
          <a:prstGeom prst="rect">
            <a:avLst/>
          </a:prstGeom>
          <a:noFill/>
          <a:ln/>
        </p:spPr>
        <p:txBody>
          <a:bodyPr wrap="square" lIns="0" tIns="0" rIns="0" bIns="0" rtlCol="0" anchor="ctr"/>
          <a:lstStyle/>
          <a:p>
            <a:pPr indent="0" marL="0">
              <a:buNone/>
            </a:pPr>
            <a:r>
              <a:rPr lang="en-US" sz="1150" i="1" dirty="0">
                <a:solidFill>
                  <a:srgbClr val="BDE8E3"/>
                </a:solidFill>
              </a:rPr>
              <a:t>asserted only: Device</a:t>
            </a:r>
            <a:endParaRPr lang="en-US" sz="1150" dirty="0"/>
          </a:p>
        </p:txBody>
      </p:sp>
      <p:sp>
        <p:nvSpPr>
          <p:cNvPr id="19" name="Text 17"/>
          <p:cNvSpPr/>
          <p:nvPr/>
        </p:nvSpPr>
        <p:spPr>
          <a:xfrm>
            <a:off x="4846320" y="3419856"/>
            <a:ext cx="3657600" cy="457200"/>
          </a:xfrm>
          <a:prstGeom prst="rect">
            <a:avLst/>
          </a:prstGeom>
          <a:noFill/>
          <a:ln/>
        </p:spPr>
        <p:txBody>
          <a:bodyPr wrap="square" lIns="0" tIns="0" rIns="0" bIns="0" rtlCol="0" anchor="ctr"/>
          <a:lstStyle/>
          <a:p>
            <a:pPr indent="0" marL="0">
              <a:buNone/>
            </a:pPr>
            <a:r>
              <a:rPr lang="en-US" sz="1200" dirty="0">
                <a:solidFill>
                  <a:srgbClr val="FFFFFF"/>
                </a:solidFill>
              </a:rPr>
              <a:t>hasComponent: a sensor + an actuator</a:t>
            </a:r>
            <a:endParaRPr lang="en-US" sz="1200" dirty="0"/>
          </a:p>
        </p:txBody>
      </p:sp>
      <p:sp>
        <p:nvSpPr>
          <p:cNvPr id="20" name="Text 18"/>
          <p:cNvSpPr/>
          <p:nvPr/>
        </p:nvSpPr>
        <p:spPr>
          <a:xfrm>
            <a:off x="548640" y="4206240"/>
            <a:ext cx="8046720" cy="502920"/>
          </a:xfrm>
          <a:prstGeom prst="rect">
            <a:avLst/>
          </a:prstGeom>
          <a:noFill/>
          <a:ln/>
        </p:spPr>
        <p:txBody>
          <a:bodyPr wrap="square" lIns="0" tIns="0" rIns="0" bIns="0" rtlCol="0" anchor="ctr"/>
          <a:lstStyle/>
          <a:p>
            <a:pPr indent="0" marL="0">
              <a:buNone/>
            </a:pPr>
            <a:r>
              <a:rPr lang="en-US" sz="1350" b="1" dirty="0">
                <a:solidFill>
                  <a:srgbClr val="1E293B"/>
                </a:solidFill>
              </a:rPr>
              <a:t>Deliberate under-typing: </a:t>
            </a:r>
            <a:pPr indent="0" marL="0">
              <a:buNone/>
            </a:pPr>
            <a:r>
              <a:rPr lang="en-US" sz="1350" dirty="0">
                <a:solidFill>
                  <a:srgbClr val="5B6B7C"/>
                </a:solidFill>
              </a:rPr>
              <a:t>several individuals carry minimal asserted types — so the defined classes do real inferential work.</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E293B"/>
                </a:solidFill>
                <a:latin typeface="Arial" pitchFamily="34" charset="0"/>
                <a:ea typeface="Arial" pitchFamily="34" charset="-122"/>
                <a:cs typeface="Arial" pitchFamily="34" charset="-120"/>
              </a:rPr>
              <a:t>Defined Classes &amp; the HermiT Reasoner</a:t>
            </a:r>
            <a:endParaRPr lang="en-US" sz="3000" dirty="0"/>
          </a:p>
        </p:txBody>
      </p:sp>
      <p:sp>
        <p:nvSpPr>
          <p:cNvPr id="3" name="Shape 1"/>
          <p:cNvSpPr/>
          <p:nvPr/>
        </p:nvSpPr>
        <p:spPr>
          <a:xfrm>
            <a:off x="502920" y="1051560"/>
            <a:ext cx="8138160" cy="777240"/>
          </a:xfrm>
          <a:prstGeom prst="roundRect">
            <a:avLst>
              <a:gd name="adj" fmla="val 9412"/>
            </a:avLst>
          </a:prstGeom>
          <a:solidFill>
            <a:srgbClr val="028090"/>
          </a:solidFill>
          <a:ln/>
          <a:effectLst>
            <a:outerShdw sx="100000" sy="100000" kx="0" ky="0" algn="bl" rotWithShape="0" blurRad="76200" dist="25400" dir="2700000">
              <a:srgbClr val="000000">
                <a:alpha val="12000"/>
              </a:srgbClr>
            </a:outerShdw>
          </a:effectLst>
        </p:spPr>
      </p:sp>
      <p:sp>
        <p:nvSpPr>
          <p:cNvPr id="4" name="Text 2"/>
          <p:cNvSpPr/>
          <p:nvPr/>
        </p:nvSpPr>
        <p:spPr>
          <a:xfrm>
            <a:off x="731520" y="1051560"/>
            <a:ext cx="7680960" cy="777240"/>
          </a:xfrm>
          <a:prstGeom prst="rect">
            <a:avLst/>
          </a:prstGeom>
          <a:noFill/>
          <a:ln/>
        </p:spPr>
        <p:txBody>
          <a:bodyPr wrap="square" lIns="0" tIns="0" rIns="0" bIns="0" rtlCol="0" anchor="ctr"/>
          <a:lstStyle/>
          <a:p>
            <a:pPr algn="ctr" indent="0" marL="0">
              <a:buNone/>
            </a:pPr>
            <a:r>
              <a:rPr lang="en-US" sz="1900" b="1" dirty="0">
                <a:solidFill>
                  <a:srgbClr val="FFFFFF"/>
                </a:solidFill>
              </a:rPr>
              <a:t>Consistent · 0 unsatisfiable classes · classified in &lt; 2 s</a:t>
            </a:r>
            <a:endParaRPr lang="en-US" sz="1900" dirty="0"/>
          </a:p>
        </p:txBody>
      </p:sp>
      <p:sp>
        <p:nvSpPr>
          <p:cNvPr id="5" name="Shape 3"/>
          <p:cNvSpPr/>
          <p:nvPr/>
        </p:nvSpPr>
        <p:spPr>
          <a:xfrm>
            <a:off x="502920" y="2011680"/>
            <a:ext cx="3977640" cy="2651760"/>
          </a:xfrm>
          <a:prstGeom prst="roundRect">
            <a:avLst>
              <a:gd name="adj" fmla="val 2759"/>
            </a:avLst>
          </a:prstGeom>
          <a:solidFill>
            <a:srgbClr val="EAF5F6"/>
          </a:solidFill>
          <a:ln/>
          <a:effectLst>
            <a:outerShdw sx="100000" sy="100000" kx="0" ky="0" algn="bl" rotWithShape="0" blurRad="76200" dist="25400" dir="2700000">
              <a:srgbClr val="000000">
                <a:alpha val="12000"/>
              </a:srgbClr>
            </a:outerShdw>
          </a:effectLst>
        </p:spPr>
      </p:sp>
      <p:sp>
        <p:nvSpPr>
          <p:cNvPr id="6" name="Text 4"/>
          <p:cNvSpPr/>
          <p:nvPr/>
        </p:nvSpPr>
        <p:spPr>
          <a:xfrm>
            <a:off x="731520" y="2148840"/>
            <a:ext cx="3566160" cy="320040"/>
          </a:xfrm>
          <a:prstGeom prst="rect">
            <a:avLst/>
          </a:prstGeom>
          <a:noFill/>
          <a:ln/>
        </p:spPr>
        <p:txBody>
          <a:bodyPr wrap="square" lIns="0" tIns="0" rIns="0" bIns="0" rtlCol="0" anchor="ctr"/>
          <a:lstStyle/>
          <a:p>
            <a:pPr indent="0" marL="0">
              <a:buNone/>
            </a:pPr>
            <a:r>
              <a:rPr lang="en-US" sz="1500" b="1" dirty="0">
                <a:solidFill>
                  <a:srgbClr val="028090"/>
                </a:solidFill>
              </a:rPr>
              <a:t>Inferred class hierarchy</a:t>
            </a:r>
            <a:endParaRPr lang="en-US" sz="1500" dirty="0"/>
          </a:p>
        </p:txBody>
      </p:sp>
      <p:sp>
        <p:nvSpPr>
          <p:cNvPr id="7" name="Text 5"/>
          <p:cNvSpPr/>
          <p:nvPr/>
        </p:nvSpPr>
        <p:spPr>
          <a:xfrm>
            <a:off x="731520" y="2514600"/>
            <a:ext cx="3611880" cy="201168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1E293B"/>
                </a:solidFill>
              </a:rPr>
              <a:t>GuestUser ⊑ NonAdminUser</a:t>
            </a:r>
            <a:endParaRPr lang="en-US" sz="1250" dirty="0"/>
          </a:p>
          <a:p>
            <a:pPr marL="342900" indent="-342900">
              <a:spcAft>
                <a:spcPts val="600"/>
              </a:spcAft>
              <a:buSzPct val="100000"/>
              <a:buChar char="•"/>
            </a:pPr>
            <a:r>
              <a:rPr lang="en-US" sz="1250" dirty="0">
                <a:solidFill>
                  <a:srgbClr val="1E293B"/>
                </a:solidFill>
              </a:rPr>
              <a:t>ChildUser ⊑ NonAdminUser</a:t>
            </a:r>
            <a:endParaRPr lang="en-US" sz="1250" dirty="0"/>
          </a:p>
          <a:p>
            <a:pPr marL="342900" indent="-342900">
              <a:spcAft>
                <a:spcPts val="600"/>
              </a:spcAft>
              <a:buSzPct val="100000"/>
              <a:buChar char="•"/>
            </a:pPr>
            <a:r>
              <a:rPr lang="en-US" sz="1250" dirty="0">
                <a:solidFill>
                  <a:srgbClr val="1E293B"/>
                </a:solidFill>
              </a:rPr>
              <a:t>LowBatteryDevice ⊑ BatteryPoweredDevice</a:t>
            </a:r>
            <a:endParaRPr lang="en-US" sz="1250" dirty="0"/>
          </a:p>
          <a:p>
            <a:pPr marL="342900" indent="-342900">
              <a:spcAft>
                <a:spcPts val="600"/>
              </a:spcAft>
              <a:buSzPct val="100000"/>
              <a:buChar char="•"/>
            </a:pPr>
            <a:r>
              <a:rPr lang="en-US" sz="1250" dirty="0">
                <a:solidFill>
                  <a:srgbClr val="1E293B"/>
                </a:solidFill>
              </a:rPr>
              <a:t>4 sensor types ⊑ EnvironmentalSensor</a:t>
            </a:r>
            <a:endParaRPr lang="en-US" sz="1250" dirty="0"/>
          </a:p>
          <a:p>
            <a:pPr marL="342900" indent="-342900">
              <a:spcAft>
                <a:spcPts val="600"/>
              </a:spcAft>
              <a:buSzPct val="100000"/>
              <a:buChar char="•"/>
            </a:pPr>
            <a:r>
              <a:rPr lang="en-US" sz="1250" dirty="0">
                <a:solidFill>
                  <a:srgbClr val="1E293B"/>
                </a:solidFill>
              </a:rPr>
              <a:t>4 classes ⊑ SafetyDevice</a:t>
            </a:r>
            <a:endParaRPr lang="en-US" sz="1250" dirty="0"/>
          </a:p>
        </p:txBody>
      </p:sp>
      <p:sp>
        <p:nvSpPr>
          <p:cNvPr id="8" name="Shape 6"/>
          <p:cNvSpPr/>
          <p:nvPr/>
        </p:nvSpPr>
        <p:spPr>
          <a:xfrm>
            <a:off x="4663440" y="2011680"/>
            <a:ext cx="3977640" cy="2651760"/>
          </a:xfrm>
          <a:prstGeom prst="roundRect">
            <a:avLst>
              <a:gd name="adj" fmla="val 2759"/>
            </a:avLst>
          </a:prstGeom>
          <a:solidFill>
            <a:srgbClr val="EAF5F6"/>
          </a:solidFill>
          <a:ln/>
          <a:effectLst>
            <a:outerShdw sx="100000" sy="100000" kx="0" ky="0" algn="bl" rotWithShape="0" blurRad="76200" dist="25400" dir="2700000">
              <a:srgbClr val="000000">
                <a:alpha val="12000"/>
              </a:srgbClr>
            </a:outerShdw>
          </a:effectLst>
        </p:spPr>
      </p:sp>
      <p:sp>
        <p:nvSpPr>
          <p:cNvPr id="9" name="Text 7"/>
          <p:cNvSpPr/>
          <p:nvPr/>
        </p:nvSpPr>
        <p:spPr>
          <a:xfrm>
            <a:off x="4892040" y="2148840"/>
            <a:ext cx="3566160" cy="320040"/>
          </a:xfrm>
          <a:prstGeom prst="rect">
            <a:avLst/>
          </a:prstGeom>
          <a:noFill/>
          <a:ln/>
        </p:spPr>
        <p:txBody>
          <a:bodyPr wrap="square" lIns="0" tIns="0" rIns="0" bIns="0" rtlCol="0" anchor="ctr"/>
          <a:lstStyle/>
          <a:p>
            <a:pPr indent="0" marL="0">
              <a:buNone/>
            </a:pPr>
            <a:r>
              <a:rPr lang="en-US" sz="1500" b="1" dirty="0">
                <a:solidFill>
                  <a:srgbClr val="028090"/>
                </a:solidFill>
              </a:rPr>
              <a:t>Inferred individual types</a:t>
            </a:r>
            <a:endParaRPr lang="en-US" sz="1500" dirty="0"/>
          </a:p>
        </p:txBody>
      </p:sp>
      <p:sp>
        <p:nvSpPr>
          <p:cNvPr id="10" name="Text 8"/>
          <p:cNvSpPr/>
          <p:nvPr/>
        </p:nvSpPr>
        <p:spPr>
          <a:xfrm>
            <a:off x="4892040" y="2514600"/>
            <a:ext cx="3611880" cy="201168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1E293B"/>
                </a:solidFill>
              </a:rPr>
              <a:t>15 devices → SmartDevice</a:t>
            </a:r>
            <a:endParaRPr lang="en-US" sz="1250" dirty="0"/>
          </a:p>
          <a:p>
            <a:pPr marL="342900" indent="-342900">
              <a:spcAft>
                <a:spcPts val="600"/>
              </a:spcAft>
              <a:buSzPct val="100000"/>
              <a:buChar char="•"/>
            </a:pPr>
            <a:r>
              <a:rPr lang="en-US" sz="1250" dirty="0">
                <a:solidFill>
                  <a:srgbClr val="1E293B"/>
                </a:solidFill>
              </a:rPr>
              <a:t>MotionSensor_Hallway (15 %) → LowBatteryDevice</a:t>
            </a:r>
            <a:endParaRPr lang="en-US" sz="1250" dirty="0"/>
          </a:p>
          <a:p>
            <a:pPr marL="342900" indent="-342900">
              <a:spcAft>
                <a:spcPts val="600"/>
              </a:spcAft>
              <a:buSzPct val="100000"/>
              <a:buChar char="•"/>
            </a:pPr>
            <a:r>
              <a:rPr lang="en-US" sz="1250" dirty="0">
                <a:solidFill>
                  <a:srgbClr val="1E293B"/>
                </a:solidFill>
              </a:rPr>
              <a:t>Marco_Russo (age 9) → ChildUser</a:t>
            </a:r>
            <a:endParaRPr lang="en-US" sz="1250" dirty="0"/>
          </a:p>
          <a:p>
            <a:pPr marL="342900" indent="-342900">
              <a:spcAft>
                <a:spcPts val="600"/>
              </a:spcAft>
              <a:buSzPct val="100000"/>
              <a:buChar char="•"/>
            </a:pPr>
            <a:r>
              <a:rPr lang="en-US" sz="1250" dirty="0">
                <a:solidFill>
                  <a:srgbClr val="1E293B"/>
                </a:solidFill>
              </a:rPr>
              <a:t>ClimateStation_Bedroom → HybridDevice</a:t>
            </a:r>
            <a:endParaRPr lang="en-US" sz="1250" dirty="0"/>
          </a:p>
          <a:p>
            <a:pPr marL="342900" indent="-342900">
              <a:spcAft>
                <a:spcPts val="600"/>
              </a:spcAft>
              <a:buSzPct val="100000"/>
              <a:buChar char="•"/>
            </a:pPr>
            <a:r>
              <a:rPr lang="en-US" sz="1250" b="1" dirty="0">
                <a:solidFill>
                  <a:srgbClr val="1E293B"/>
                </a:solidFill>
              </a:rPr>
              <a:t>None of these facts is in the file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E293B"/>
                </a:solidFill>
                <a:latin typeface="Arial" pitchFamily="34" charset="0"/>
                <a:ea typeface="Arial" pitchFamily="34" charset="-122"/>
                <a:cs typeface="Arial" pitchFamily="34" charset="-120"/>
              </a:rPr>
              <a:t>SWRL Rules</a:t>
            </a:r>
            <a:endParaRPr lang="en-US" sz="3000" dirty="0"/>
          </a:p>
        </p:txBody>
      </p:sp>
      <p:sp>
        <p:nvSpPr>
          <p:cNvPr id="3" name="Shape 1"/>
          <p:cNvSpPr/>
          <p:nvPr/>
        </p:nvSpPr>
        <p:spPr>
          <a:xfrm>
            <a:off x="502920" y="1353312"/>
            <a:ext cx="566928" cy="566928"/>
          </a:xfrm>
          <a:prstGeom prst="ellipse">
            <a:avLst/>
          </a:prstGeom>
          <a:solidFill>
            <a:srgbClr val="028090"/>
          </a:solidFill>
          <a:ln/>
        </p:spPr>
      </p:sp>
      <p:sp>
        <p:nvSpPr>
          <p:cNvPr id="4" name="Text 2"/>
          <p:cNvSpPr/>
          <p:nvPr/>
        </p:nvSpPr>
        <p:spPr>
          <a:xfrm>
            <a:off x="502920" y="135331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rPr>
              <a:t>R1</a:t>
            </a:r>
            <a:endParaRPr lang="en-US" sz="1600" dirty="0"/>
          </a:p>
        </p:txBody>
      </p:sp>
      <p:sp>
        <p:nvSpPr>
          <p:cNvPr id="5" name="Shape 3"/>
          <p:cNvSpPr/>
          <p:nvPr/>
        </p:nvSpPr>
        <p:spPr>
          <a:xfrm>
            <a:off x="1234440" y="1097280"/>
            <a:ext cx="7406640" cy="1097280"/>
          </a:xfrm>
          <a:prstGeom prst="roundRect">
            <a:avLst>
              <a:gd name="adj" fmla="val 6667"/>
            </a:avLst>
          </a:prstGeom>
          <a:solidFill>
            <a:srgbClr val="EAF5F6"/>
          </a:solidFill>
          <a:ln/>
          <a:effectLst>
            <a:outerShdw sx="100000" sy="100000" kx="0" ky="0" algn="bl" rotWithShape="0" blurRad="76200" dist="25400" dir="2700000">
              <a:srgbClr val="000000">
                <a:alpha val="12000"/>
              </a:srgbClr>
            </a:outerShdw>
          </a:effectLst>
        </p:spPr>
      </p:sp>
      <p:sp>
        <p:nvSpPr>
          <p:cNvPr id="6" name="Text 4"/>
          <p:cNvSpPr/>
          <p:nvPr/>
        </p:nvSpPr>
        <p:spPr>
          <a:xfrm>
            <a:off x="1417320" y="1188720"/>
            <a:ext cx="7086600" cy="502920"/>
          </a:xfrm>
          <a:prstGeom prst="rect">
            <a:avLst/>
          </a:prstGeom>
          <a:noFill/>
          <a:ln/>
        </p:spPr>
        <p:txBody>
          <a:bodyPr wrap="square" lIns="0" tIns="0" rIns="0" bIns="0" rtlCol="0" anchor="ctr"/>
          <a:lstStyle/>
          <a:p>
            <a:pPr indent="0" marL="0">
              <a:buNone/>
            </a:pPr>
            <a:r>
              <a:rPr lang="en-US" sz="1150" dirty="0">
                <a:solidFill>
                  <a:srgbClr val="1E293B"/>
                </a:solidFill>
                <a:latin typeface="Courier New" pitchFamily="34" charset="0"/>
                <a:ea typeface="Courier New" pitchFamily="34" charset="-122"/>
                <a:cs typeface="Courier New" pitchFamily="34" charset="-120"/>
              </a:rPr>
              <a:t>MotionSensor(?s) ^ isLocatedIn(?s,?r) ^ triggers(?s,?e) ^ SecurityEvent(?e) → occursIn(?e,?r)</a:t>
            </a:r>
            <a:endParaRPr lang="en-US" sz="1150" dirty="0"/>
          </a:p>
        </p:txBody>
      </p:sp>
      <p:sp>
        <p:nvSpPr>
          <p:cNvPr id="7" name="Text 5"/>
          <p:cNvSpPr/>
          <p:nvPr/>
        </p:nvSpPr>
        <p:spPr>
          <a:xfrm>
            <a:off x="1417320" y="1719072"/>
            <a:ext cx="7086600" cy="411480"/>
          </a:xfrm>
          <a:prstGeom prst="rect">
            <a:avLst/>
          </a:prstGeom>
          <a:noFill/>
          <a:ln/>
        </p:spPr>
        <p:txBody>
          <a:bodyPr wrap="square" lIns="0" tIns="0" rIns="0" bIns="0" rtlCol="0" anchor="ctr"/>
          <a:lstStyle/>
          <a:p>
            <a:pPr indent="0" marL="0">
              <a:buNone/>
            </a:pPr>
            <a:r>
              <a:rPr lang="en-US" sz="1150" i="1" dirty="0">
                <a:solidFill>
                  <a:srgbClr val="5B6B7C"/>
                </a:solidFill>
              </a:rPr>
              <a:t>events inherit the location of the sensor that detected them — a 3-way join OWL alone can't express</a:t>
            </a:r>
            <a:endParaRPr lang="en-US" sz="1150" dirty="0"/>
          </a:p>
        </p:txBody>
      </p:sp>
      <p:sp>
        <p:nvSpPr>
          <p:cNvPr id="8" name="Shape 6"/>
          <p:cNvSpPr/>
          <p:nvPr/>
        </p:nvSpPr>
        <p:spPr>
          <a:xfrm>
            <a:off x="502920" y="2560320"/>
            <a:ext cx="566928" cy="566928"/>
          </a:xfrm>
          <a:prstGeom prst="ellipse">
            <a:avLst/>
          </a:prstGeom>
          <a:solidFill>
            <a:srgbClr val="028090"/>
          </a:solidFill>
          <a:ln/>
        </p:spPr>
      </p:sp>
      <p:sp>
        <p:nvSpPr>
          <p:cNvPr id="9" name="Text 7"/>
          <p:cNvSpPr/>
          <p:nvPr/>
        </p:nvSpPr>
        <p:spPr>
          <a:xfrm>
            <a:off x="502920" y="25603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rPr>
              <a:t>R2</a:t>
            </a:r>
            <a:endParaRPr lang="en-US" sz="1600" dirty="0"/>
          </a:p>
        </p:txBody>
      </p:sp>
      <p:sp>
        <p:nvSpPr>
          <p:cNvPr id="10" name="Shape 8"/>
          <p:cNvSpPr/>
          <p:nvPr/>
        </p:nvSpPr>
        <p:spPr>
          <a:xfrm>
            <a:off x="1234440" y="2304288"/>
            <a:ext cx="7406640" cy="1097280"/>
          </a:xfrm>
          <a:prstGeom prst="roundRect">
            <a:avLst>
              <a:gd name="adj" fmla="val 6667"/>
            </a:avLst>
          </a:prstGeom>
          <a:solidFill>
            <a:srgbClr val="EAF5F6"/>
          </a:solidFill>
          <a:ln/>
          <a:effectLst>
            <a:outerShdw sx="100000" sy="100000" kx="0" ky="0" algn="bl" rotWithShape="0" blurRad="76200" dist="25400" dir="2700000">
              <a:srgbClr val="000000">
                <a:alpha val="12000"/>
              </a:srgbClr>
            </a:outerShdw>
          </a:effectLst>
        </p:spPr>
      </p:sp>
      <p:sp>
        <p:nvSpPr>
          <p:cNvPr id="11" name="Text 9"/>
          <p:cNvSpPr/>
          <p:nvPr/>
        </p:nvSpPr>
        <p:spPr>
          <a:xfrm>
            <a:off x="1417320" y="2395728"/>
            <a:ext cx="7086600" cy="502920"/>
          </a:xfrm>
          <a:prstGeom prst="rect">
            <a:avLst/>
          </a:prstGeom>
          <a:noFill/>
          <a:ln/>
        </p:spPr>
        <p:txBody>
          <a:bodyPr wrap="square" lIns="0" tIns="0" rIns="0" bIns="0" rtlCol="0" anchor="ctr"/>
          <a:lstStyle/>
          <a:p>
            <a:pPr indent="0" marL="0">
              <a:buNone/>
            </a:pPr>
            <a:r>
              <a:rPr lang="en-US" sz="1150" dirty="0">
                <a:solidFill>
                  <a:srgbClr val="1E293B"/>
                </a:solidFill>
                <a:latin typeface="Courier New" pitchFamily="34" charset="0"/>
                <a:ea typeface="Courier New" pitchFamily="34" charset="-122"/>
                <a:cs typeface="Courier New" pitchFamily="34" charset="-120"/>
              </a:rPr>
              <a:t>SmokeSensor(?s) ^ triggers(?s,?e) → SecurityEvent(?e)</a:t>
            </a:r>
            <a:endParaRPr lang="en-US" sz="1150" dirty="0"/>
          </a:p>
        </p:txBody>
      </p:sp>
      <p:sp>
        <p:nvSpPr>
          <p:cNvPr id="12" name="Text 10"/>
          <p:cNvSpPr/>
          <p:nvPr/>
        </p:nvSpPr>
        <p:spPr>
          <a:xfrm>
            <a:off x="1417320" y="2926080"/>
            <a:ext cx="7086600" cy="411480"/>
          </a:xfrm>
          <a:prstGeom prst="rect">
            <a:avLst/>
          </a:prstGeom>
          <a:noFill/>
          <a:ln/>
        </p:spPr>
        <p:txBody>
          <a:bodyPr wrap="square" lIns="0" tIns="0" rIns="0" bIns="0" rtlCol="0" anchor="ctr"/>
          <a:lstStyle/>
          <a:p>
            <a:pPr indent="0" marL="0">
              <a:buNone/>
            </a:pPr>
            <a:r>
              <a:rPr lang="en-US" sz="1150" i="1" dirty="0">
                <a:solidFill>
                  <a:srgbClr val="5B6B7C"/>
                </a:solidFill>
              </a:rPr>
              <a:t>smoke detection is always security-relevant — reclassifies events</a:t>
            </a:r>
            <a:endParaRPr lang="en-US" sz="1150" dirty="0"/>
          </a:p>
        </p:txBody>
      </p:sp>
      <p:sp>
        <p:nvSpPr>
          <p:cNvPr id="13" name="Shape 11"/>
          <p:cNvSpPr/>
          <p:nvPr/>
        </p:nvSpPr>
        <p:spPr>
          <a:xfrm>
            <a:off x="502920" y="3767328"/>
            <a:ext cx="566928" cy="566928"/>
          </a:xfrm>
          <a:prstGeom prst="ellipse">
            <a:avLst/>
          </a:prstGeom>
          <a:solidFill>
            <a:srgbClr val="028090"/>
          </a:solidFill>
          <a:ln/>
        </p:spPr>
      </p:sp>
      <p:sp>
        <p:nvSpPr>
          <p:cNvPr id="14" name="Text 12"/>
          <p:cNvSpPr/>
          <p:nvPr/>
        </p:nvSpPr>
        <p:spPr>
          <a:xfrm>
            <a:off x="502920" y="3767328"/>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rPr>
              <a:t>R3</a:t>
            </a:r>
            <a:endParaRPr lang="en-US" sz="1600" dirty="0"/>
          </a:p>
        </p:txBody>
      </p:sp>
      <p:sp>
        <p:nvSpPr>
          <p:cNvPr id="15" name="Shape 13"/>
          <p:cNvSpPr/>
          <p:nvPr/>
        </p:nvSpPr>
        <p:spPr>
          <a:xfrm>
            <a:off x="1234440" y="3511296"/>
            <a:ext cx="7406640" cy="1097280"/>
          </a:xfrm>
          <a:prstGeom prst="roundRect">
            <a:avLst>
              <a:gd name="adj" fmla="val 6667"/>
            </a:avLst>
          </a:prstGeom>
          <a:solidFill>
            <a:srgbClr val="EAF5F6"/>
          </a:solidFill>
          <a:ln/>
          <a:effectLst>
            <a:outerShdw sx="100000" sy="100000" kx="0" ky="0" algn="bl" rotWithShape="0" blurRad="76200" dist="25400" dir="2700000">
              <a:srgbClr val="000000">
                <a:alpha val="12000"/>
              </a:srgbClr>
            </a:outerShdw>
          </a:effectLst>
        </p:spPr>
      </p:sp>
      <p:sp>
        <p:nvSpPr>
          <p:cNvPr id="16" name="Text 14"/>
          <p:cNvSpPr/>
          <p:nvPr/>
        </p:nvSpPr>
        <p:spPr>
          <a:xfrm>
            <a:off x="1417320" y="3602736"/>
            <a:ext cx="7086600" cy="502920"/>
          </a:xfrm>
          <a:prstGeom prst="rect">
            <a:avLst/>
          </a:prstGeom>
          <a:noFill/>
          <a:ln/>
        </p:spPr>
        <p:txBody>
          <a:bodyPr wrap="square" lIns="0" tIns="0" rIns="0" bIns="0" rtlCol="0" anchor="ctr"/>
          <a:lstStyle/>
          <a:p>
            <a:pPr indent="0" marL="0">
              <a:buNone/>
            </a:pPr>
            <a:r>
              <a:rPr lang="en-US" sz="1150" dirty="0">
                <a:solidFill>
                  <a:srgbClr val="1E293B"/>
                </a:solidFill>
                <a:latin typeface="Courier New" pitchFamily="34" charset="0"/>
                <a:ea typeface="Courier New" pitchFamily="34" charset="-122"/>
                <a:cs typeface="Courier New" pitchFamily="34" charset="-120"/>
              </a:rPr>
              <a:t>SmartLock(?l) ^ controlledBy(?l,?u) → AdminUser(?u)</a:t>
            </a:r>
            <a:endParaRPr lang="en-US" sz="1150" dirty="0"/>
          </a:p>
        </p:txBody>
      </p:sp>
      <p:sp>
        <p:nvSpPr>
          <p:cNvPr id="17" name="Text 15"/>
          <p:cNvSpPr/>
          <p:nvPr/>
        </p:nvSpPr>
        <p:spPr>
          <a:xfrm>
            <a:off x="1417320" y="4133088"/>
            <a:ext cx="7086600" cy="411480"/>
          </a:xfrm>
          <a:prstGeom prst="rect">
            <a:avLst/>
          </a:prstGeom>
          <a:noFill/>
          <a:ln/>
        </p:spPr>
        <p:txBody>
          <a:bodyPr wrap="square" lIns="0" tIns="0" rIns="0" bIns="0" rtlCol="0" anchor="ctr"/>
          <a:lstStyle/>
          <a:p>
            <a:pPr indent="0" marL="0">
              <a:buNone/>
            </a:pPr>
            <a:r>
              <a:rPr lang="en-US" sz="1150" i="1" dirty="0">
                <a:solidFill>
                  <a:srgbClr val="5B6B7C"/>
                </a:solidFill>
              </a:rPr>
              <a:t>declarative access-control policy — a violation becomes a logical inconsistency</a:t>
            </a:r>
            <a:endParaRPr lang="en-US" sz="1150" dirty="0"/>
          </a:p>
        </p:txBody>
      </p:sp>
      <p:sp>
        <p:nvSpPr>
          <p:cNvPr id="18" name="Text 16"/>
          <p:cNvSpPr/>
          <p:nvPr/>
        </p:nvSpPr>
        <p:spPr>
          <a:xfrm>
            <a:off x="548640" y="4681728"/>
            <a:ext cx="8046720" cy="292608"/>
          </a:xfrm>
          <a:prstGeom prst="rect">
            <a:avLst/>
          </a:prstGeom>
          <a:noFill/>
          <a:ln/>
        </p:spPr>
        <p:txBody>
          <a:bodyPr wrap="square" lIns="0" tIns="0" rIns="0" bIns="0" rtlCol="0" anchor="ctr"/>
          <a:lstStyle/>
          <a:p>
            <a:pPr algn="ctr" indent="0" marL="0">
              <a:buNone/>
            </a:pPr>
            <a:r>
              <a:rPr lang="en-US" sz="1250" dirty="0">
                <a:solidFill>
                  <a:srgbClr val="5B6B7C"/>
                </a:solidFill>
              </a:rPr>
              <a:t>All three rules are DL-safe (no built-ins) and fire in HermiT inside Protégé.</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E293B"/>
                </a:solidFill>
                <a:latin typeface="Arial" pitchFamily="34" charset="0"/>
                <a:ea typeface="Arial" pitchFamily="34" charset="-122"/>
                <a:cs typeface="Arial" pitchFamily="34" charset="-120"/>
              </a:rPr>
              <a:t>Competency Questions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143000"/>
          <a:ext cx="8138160" cy="914400"/>
        </p:xfrm>
        <a:graphic>
          <a:graphicData uri="http://schemas.openxmlformats.org/drawingml/2006/table">
            <a:tbl>
              <a:tblPr/>
              <a:tblGrid>
                <a:gridCol w="640080"/>
                <a:gridCol w="2377440"/>
                <a:gridCol w="2834640"/>
                <a:gridCol w="2286000"/>
              </a:tblGrid>
              <a:tr h="502920">
                <a:tc>
                  <a:txBody>
                    <a:bodyPr/>
                    <a:lstStyle/>
                    <a:p>
                      <a:pPr indent="0" marL="0">
                        <a:buNone/>
                      </a:pPr>
                      <a:r>
                        <a:rPr lang="en-US" sz="1250" b="1" dirty="0">
                          <a:solidFill>
                            <a:srgbClr val="FFFFFF"/>
                          </a:solidFill>
                        </a:rPr>
                        <a:t>#</a:t>
                      </a:r>
                      <a:endParaRPr lang="en-US" sz="12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solidFill>
                      <a:srgbClr val="028090"/>
                    </a:solidFill>
                  </a:tcPr>
                </a:tc>
                <a:tc>
                  <a:txBody>
                    <a:bodyPr/>
                    <a:lstStyle/>
                    <a:p>
                      <a:pPr indent="0" marL="0">
                        <a:buNone/>
                      </a:pPr>
                      <a:r>
                        <a:rPr lang="en-US" sz="1250" b="1" dirty="0">
                          <a:solidFill>
                            <a:srgbClr val="FFFFFF"/>
                          </a:solidFill>
                        </a:rPr>
                        <a:t>Question</a:t>
                      </a:r>
                      <a:endParaRPr lang="en-US" sz="12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solidFill>
                      <a:srgbClr val="028090"/>
                    </a:solidFill>
                  </a:tcPr>
                </a:tc>
                <a:tc>
                  <a:txBody>
                    <a:bodyPr/>
                    <a:lstStyle/>
                    <a:p>
                      <a:pPr indent="0" marL="0">
                        <a:buNone/>
                      </a:pPr>
                      <a:r>
                        <a:rPr lang="en-US" sz="1250" b="1" dirty="0">
                          <a:solidFill>
                            <a:srgbClr val="FFFFFF"/>
                          </a:solidFill>
                        </a:rPr>
                        <a:t>DL Query</a:t>
                      </a:r>
                      <a:endParaRPr lang="en-US" sz="12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solidFill>
                      <a:srgbClr val="028090"/>
                    </a:solidFill>
                  </a:tcPr>
                </a:tc>
                <a:tc>
                  <a:txBody>
                    <a:bodyPr/>
                    <a:lstStyle/>
                    <a:p>
                      <a:pPr indent="0" marL="0">
                        <a:buNone/>
                      </a:pPr>
                      <a:r>
                        <a:rPr lang="en-US" sz="1250" b="1" dirty="0">
                          <a:solidFill>
                            <a:srgbClr val="FFFFFF"/>
                          </a:solidFill>
                        </a:rPr>
                        <a:t>Answer (inferred)</a:t>
                      </a:r>
                      <a:endParaRPr lang="en-US" sz="12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solidFill>
                      <a:srgbClr val="028090"/>
                    </a:solidFill>
                  </a:tcPr>
                </a:tc>
              </a:tr>
              <a:tr h="502920">
                <a:tc>
                  <a:txBody>
                    <a:bodyPr/>
                    <a:lstStyle/>
                    <a:p>
                      <a:pPr indent="0" marL="0">
                        <a:buNone/>
                      </a:pPr>
                      <a:r>
                        <a:rPr lang="en-US" sz="1150" dirty="0">
                          <a:solidFill>
                            <a:srgbClr val="1E293B"/>
                          </a:solidFill>
                        </a:rPr>
                        <a:t>CQ1</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indent="0" marL="0">
                        <a:buNone/>
                      </a:pPr>
                      <a:r>
                        <a:rPr lang="en-US" sz="1150" dirty="0">
                          <a:solidFill>
                            <a:srgbClr val="1E293B"/>
                          </a:solidFill>
                        </a:rPr>
                        <a:t>Which devices are smart?</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indent="0" marL="0">
                        <a:buNone/>
                      </a:pPr>
                      <a:r>
                        <a:rPr lang="en-US" sz="1100" dirty="0">
                          <a:solidFill>
                            <a:srgbClr val="028090"/>
                          </a:solidFill>
                          <a:latin typeface="Courier New" pitchFamily="34" charset="0"/>
                          <a:ea typeface="Courier New" pitchFamily="34" charset="-122"/>
                          <a:cs typeface="Courier New" pitchFamily="34" charset="-120"/>
                        </a:rPr>
                        <a:t>SmartDevice</a:t>
                      </a:r>
                      <a:endParaRPr lang="en-US" sz="1100" dirty="0">
                        <a:latin typeface="Courier New" charset="0"/>
                        <a:ea typeface="Courier New" charset="0"/>
                        <a:cs typeface="Courier New" charset="0"/>
                      </a:endParaRPr>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indent="0" marL="0">
                        <a:buNone/>
                      </a:pPr>
                      <a:r>
                        <a:rPr lang="en-US" sz="1150" dirty="0">
                          <a:solidFill>
                            <a:srgbClr val="1E293B"/>
                          </a:solidFill>
                        </a:rPr>
                        <a:t>15 devices</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r>
              <a:tr h="502920">
                <a:tc>
                  <a:txBody>
                    <a:bodyPr/>
                    <a:lstStyle/>
                    <a:p>
                      <a:pPr indent="0" marL="0">
                        <a:buNone/>
                      </a:pPr>
                      <a:r>
                        <a:rPr lang="en-US" sz="1150" dirty="0">
                          <a:solidFill>
                            <a:srgbClr val="1E293B"/>
                          </a:solidFill>
                        </a:rPr>
                        <a:t>CQ2</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indent="0" marL="0">
                        <a:buNone/>
                      </a:pPr>
                      <a:r>
                        <a:rPr lang="en-US" sz="1150" dirty="0">
                          <a:solidFill>
                            <a:srgbClr val="1E293B"/>
                          </a:solidFill>
                        </a:rPr>
                        <a:t>Which devices need battery service?</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indent="0" marL="0">
                        <a:buNone/>
                      </a:pPr>
                      <a:r>
                        <a:rPr lang="en-US" sz="1100" dirty="0">
                          <a:solidFill>
                            <a:srgbClr val="028090"/>
                          </a:solidFill>
                          <a:latin typeface="Courier New" pitchFamily="34" charset="0"/>
                          <a:ea typeface="Courier New" pitchFamily="34" charset="-122"/>
                          <a:cs typeface="Courier New" pitchFamily="34" charset="-120"/>
                        </a:rPr>
                        <a:t>LowBatteryDevice</a:t>
                      </a:r>
                      <a:endParaRPr lang="en-US" sz="1100" dirty="0">
                        <a:latin typeface="Courier New" charset="0"/>
                        <a:ea typeface="Courier New" charset="0"/>
                        <a:cs typeface="Courier New" charset="0"/>
                      </a:endParaRPr>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indent="0" marL="0">
                        <a:buNone/>
                      </a:pPr>
                      <a:r>
                        <a:rPr lang="en-US" sz="1150" dirty="0">
                          <a:solidFill>
                            <a:srgbClr val="1E293B"/>
                          </a:solidFill>
                        </a:rPr>
                        <a:t>MotionSensor_Hallway</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r>
              <a:tr h="502920">
                <a:tc>
                  <a:txBody>
                    <a:bodyPr/>
                    <a:lstStyle/>
                    <a:p>
                      <a:pPr indent="0" marL="0">
                        <a:buNone/>
                      </a:pPr>
                      <a:r>
                        <a:rPr lang="en-US" sz="1150" dirty="0">
                          <a:solidFill>
                            <a:srgbClr val="1E293B"/>
                          </a:solidFill>
                        </a:rPr>
                        <a:t>CQ3</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indent="0" marL="0">
                        <a:buNone/>
                      </a:pPr>
                      <a:r>
                        <a:rPr lang="en-US" sz="1150" dirty="0">
                          <a:solidFill>
                            <a:srgbClr val="1E293B"/>
                          </a:solidFill>
                        </a:rPr>
                        <a:t>What monitors the kitchen?</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indent="0" marL="0">
                        <a:buNone/>
                      </a:pPr>
                      <a:r>
                        <a:rPr lang="en-US" sz="1100" dirty="0">
                          <a:solidFill>
                            <a:srgbClr val="028090"/>
                          </a:solidFill>
                          <a:latin typeface="Courier New" pitchFamily="34" charset="0"/>
                          <a:ea typeface="Courier New" pitchFamily="34" charset="-122"/>
                          <a:cs typeface="Courier New" pitchFamily="34" charset="-120"/>
                        </a:rPr>
                        <a:t>monitors value Kitchen_Main</a:t>
                      </a:r>
                      <a:endParaRPr lang="en-US" sz="1100" dirty="0">
                        <a:latin typeface="Courier New" charset="0"/>
                        <a:ea typeface="Courier New" charset="0"/>
                        <a:cs typeface="Courier New" charset="0"/>
                      </a:endParaRPr>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indent="0" marL="0">
                        <a:buNone/>
                      </a:pPr>
                      <a:r>
                        <a:rPr lang="en-US" sz="1150" dirty="0">
                          <a:solidFill>
                            <a:srgbClr val="1E293B"/>
                          </a:solidFill>
                        </a:rPr>
                        <a:t>temp + smoke sensors</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r>
              <a:tr h="502920">
                <a:tc>
                  <a:txBody>
                    <a:bodyPr/>
                    <a:lstStyle/>
                    <a:p>
                      <a:pPr indent="0" marL="0">
                        <a:buNone/>
                      </a:pPr>
                      <a:r>
                        <a:rPr lang="en-US" sz="1150" dirty="0">
                          <a:solidFill>
                            <a:srgbClr val="1E293B"/>
                          </a:solidFill>
                        </a:rPr>
                        <a:t>CQ4</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indent="0" marL="0">
                        <a:buNone/>
                      </a:pPr>
                      <a:r>
                        <a:rPr lang="en-US" sz="1150" dirty="0">
                          <a:solidFill>
                            <a:srgbClr val="1E293B"/>
                          </a:solidFill>
                        </a:rPr>
                        <a:t>Where did security events occur?</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indent="0" marL="0">
                        <a:buNone/>
                      </a:pPr>
                      <a:r>
                        <a:rPr lang="en-US" sz="1100" dirty="0">
                          <a:solidFill>
                            <a:srgbClr val="028090"/>
                          </a:solidFill>
                          <a:latin typeface="Courier New" pitchFamily="34" charset="0"/>
                          <a:ea typeface="Courier New" pitchFamily="34" charset="-122"/>
                          <a:cs typeface="Courier New" pitchFamily="34" charset="-120"/>
                        </a:rPr>
                        <a:t>SecurityEvent and occursIn some Room</a:t>
                      </a:r>
                      <a:endParaRPr lang="en-US" sz="1100" dirty="0">
                        <a:latin typeface="Courier New" charset="0"/>
                        <a:ea typeface="Courier New" charset="0"/>
                        <a:cs typeface="Courier New" charset="0"/>
                      </a:endParaRPr>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indent="0" marL="0">
                        <a:buNone/>
                      </a:pPr>
                      <a:r>
                        <a:rPr lang="en-US" sz="1150" dirty="0">
                          <a:solidFill>
                            <a:srgbClr val="1E293B"/>
                          </a:solidFill>
                        </a:rPr>
                        <a:t>Event_Motion_001 → Hallway</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r>
              <a:tr h="502920">
                <a:tc>
                  <a:txBody>
                    <a:bodyPr/>
                    <a:lstStyle/>
                    <a:p>
                      <a:pPr indent="0" marL="0">
                        <a:buNone/>
                      </a:pPr>
                      <a:r>
                        <a:rPr lang="en-US" sz="1150" dirty="0">
                          <a:solidFill>
                            <a:srgbClr val="1E293B"/>
                          </a:solidFill>
                        </a:rPr>
                        <a:t>CQ5</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indent="0" marL="0">
                        <a:buNone/>
                      </a:pPr>
                      <a:r>
                        <a:rPr lang="en-US" sz="1150" dirty="0">
                          <a:solidFill>
                            <a:srgbClr val="1E293B"/>
                          </a:solidFill>
                        </a:rPr>
                        <a:t>Which users lack admin rights?</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indent="0" marL="0">
                        <a:buNone/>
                      </a:pPr>
                      <a:r>
                        <a:rPr lang="en-US" sz="1100" dirty="0">
                          <a:solidFill>
                            <a:srgbClr val="028090"/>
                          </a:solidFill>
                          <a:latin typeface="Courier New" pitchFamily="34" charset="0"/>
                          <a:ea typeface="Courier New" pitchFamily="34" charset="-122"/>
                          <a:cs typeface="Courier New" pitchFamily="34" charset="-120"/>
                        </a:rPr>
                        <a:t>NonAdminUser</a:t>
                      </a:r>
                      <a:endParaRPr lang="en-US" sz="1100" dirty="0">
                        <a:latin typeface="Courier New" charset="0"/>
                        <a:ea typeface="Courier New" charset="0"/>
                        <a:cs typeface="Courier New" charset="0"/>
                      </a:endParaRPr>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c>
                  <a:txBody>
                    <a:bodyPr/>
                    <a:lstStyle/>
                    <a:p>
                      <a:pPr indent="0" marL="0">
                        <a:buNone/>
                      </a:pPr>
                      <a:r>
                        <a:rPr lang="en-US" sz="1150" dirty="0">
                          <a:solidFill>
                            <a:srgbClr val="1E293B"/>
                          </a:solidFill>
                        </a:rPr>
                        <a:t>Bob (guest), Marco (child)</a:t>
                      </a:r>
                      <a:endParaRPr lang="en-US" sz="1150" dirty="0"/>
                    </a:p>
                  </a:txBody>
                  <a:tcPr marL="73152" marR="73152" marT="73152" marB="73152" anchor="ctr">
                    <a:lnL w="12700" cap="flat" cmpd="sng" algn="ctr">
                      <a:solidFill>
                        <a:srgbClr val="D7E6E8"/>
                      </a:solidFill>
                      <a:prstDash val="solid"/>
                      <a:round/>
                      <a:headEnd type="none" w="med" len="med"/>
                      <a:tailEnd type="none" w="med" len="med"/>
                    </a:lnL>
                    <a:lnR w="12700" cap="flat" cmpd="sng" algn="ctr">
                      <a:solidFill>
                        <a:srgbClr val="D7E6E8"/>
                      </a:solidFill>
                      <a:prstDash val="solid"/>
                      <a:round/>
                      <a:headEnd type="none" w="med" len="med"/>
                      <a:tailEnd type="none" w="med" len="med"/>
                    </a:lnR>
                    <a:lnT w="12700" cap="flat" cmpd="sng" algn="ctr">
                      <a:solidFill>
                        <a:srgbClr val="D7E6E8"/>
                      </a:solidFill>
                      <a:prstDash val="solid"/>
                      <a:round/>
                      <a:headEnd type="none" w="med" len="med"/>
                      <a:tailEnd type="none" w="med" len="med"/>
                    </a:lnT>
                    <a:lnB w="12700" cap="flat" cmpd="sng" algn="ctr">
                      <a:solidFill>
                        <a:srgbClr val="D7E6E8"/>
                      </a:solidFill>
                      <a:prstDash val="solid"/>
                      <a:round/>
                      <a:headEnd type="none" w="med" len="med"/>
                      <a:tailEnd type="none" w="med" len="med"/>
                    </a:lnB>
                  </a:tcPr>
                </a:tc>
              </a:tr>
            </a:tbl>
          </a:graphicData>
        </a:graphic>
      </p:graphicFrame>
      <p:sp>
        <p:nvSpPr>
          <p:cNvPr id="4" name="Shape 1"/>
          <p:cNvSpPr/>
          <p:nvPr/>
        </p:nvSpPr>
        <p:spPr>
          <a:xfrm>
            <a:off x="502920" y="4251960"/>
            <a:ext cx="8138160" cy="566928"/>
          </a:xfrm>
          <a:prstGeom prst="roundRect">
            <a:avLst>
              <a:gd name="adj" fmla="val 9677"/>
            </a:avLst>
          </a:prstGeom>
          <a:solidFill>
            <a:srgbClr val="EAF5F6"/>
          </a:solidFill>
          <a:ln/>
        </p:spPr>
      </p:sp>
      <p:sp>
        <p:nvSpPr>
          <p:cNvPr id="5" name="Text 2"/>
          <p:cNvSpPr/>
          <p:nvPr/>
        </p:nvSpPr>
        <p:spPr>
          <a:xfrm>
            <a:off x="731520" y="4279392"/>
            <a:ext cx="7680960" cy="512064"/>
          </a:xfrm>
          <a:prstGeom prst="rect">
            <a:avLst/>
          </a:prstGeom>
          <a:noFill/>
          <a:ln/>
        </p:spPr>
        <p:txBody>
          <a:bodyPr wrap="square" lIns="0" tIns="0" rIns="0" bIns="0" rtlCol="0" anchor="ctr"/>
          <a:lstStyle/>
          <a:p>
            <a:pPr indent="0" marL="0">
              <a:buNone/>
            </a:pPr>
            <a:r>
              <a:rPr lang="en-US" sz="1250" b="1" dirty="0">
                <a:solidFill>
                  <a:srgbClr val="1E293B"/>
                </a:solidFill>
              </a:rPr>
              <a:t>Every answer depends on inference </a:t>
            </a:r>
            <a:pPr indent="0" marL="0">
              <a:buNone/>
            </a:pPr>
            <a:r>
              <a:rPr lang="en-US" sz="1250" dirty="0">
                <a:solidFill>
                  <a:srgbClr val="1E293B"/>
                </a:solidFill>
              </a:rPr>
              <a:t>— CQ1 has no asserted members, CQ4 exists only via SWRL, CQ5 needs the complement + age classification.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45A63"/>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FFFFFF"/>
                </a:solidFill>
              </a:rPr>
              <a:t>Conclusions &amp; Future Work</a:t>
            </a:r>
            <a:endParaRPr lang="en-US" sz="3000" dirty="0"/>
          </a:p>
        </p:txBody>
      </p:sp>
      <p:sp>
        <p:nvSpPr>
          <p:cNvPr id="3" name="Shape 1"/>
          <p:cNvSpPr/>
          <p:nvPr/>
        </p:nvSpPr>
        <p:spPr>
          <a:xfrm>
            <a:off x="502920" y="1143000"/>
            <a:ext cx="3977640" cy="3520440"/>
          </a:xfrm>
          <a:prstGeom prst="roundRect">
            <a:avLst>
              <a:gd name="adj" fmla="val 2078"/>
            </a:avLst>
          </a:prstGeom>
          <a:solidFill>
            <a:srgbClr val="028090"/>
          </a:solidFill>
          <a:ln/>
        </p:spPr>
      </p:sp>
      <p:sp>
        <p:nvSpPr>
          <p:cNvPr id="4" name="Text 2"/>
          <p:cNvSpPr/>
          <p:nvPr/>
        </p:nvSpPr>
        <p:spPr>
          <a:xfrm>
            <a:off x="731520" y="1280160"/>
            <a:ext cx="3566160" cy="365760"/>
          </a:xfrm>
          <a:prstGeom prst="rect">
            <a:avLst/>
          </a:prstGeom>
          <a:noFill/>
          <a:ln/>
        </p:spPr>
        <p:txBody>
          <a:bodyPr wrap="square" lIns="0" tIns="0" rIns="0" bIns="0" rtlCol="0" anchor="ctr"/>
          <a:lstStyle/>
          <a:p>
            <a:pPr indent="0" marL="0">
              <a:buNone/>
            </a:pPr>
            <a:r>
              <a:rPr lang="en-US" sz="1700" b="1" dirty="0">
                <a:solidFill>
                  <a:srgbClr val="FFFFFF"/>
                </a:solidFill>
              </a:rPr>
              <a:t>Delivered</a:t>
            </a:r>
            <a:endParaRPr lang="en-US" sz="1700" dirty="0"/>
          </a:p>
        </p:txBody>
      </p:sp>
      <p:sp>
        <p:nvSpPr>
          <p:cNvPr id="5" name="Text 3"/>
          <p:cNvSpPr/>
          <p:nvPr/>
        </p:nvSpPr>
        <p:spPr>
          <a:xfrm>
            <a:off x="731520" y="1691640"/>
            <a:ext cx="3611880" cy="283464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FFFFFF"/>
                </a:solidFill>
              </a:rPr>
              <a:t>46 classes, 18 object + 15 data properties, 35 individuals, 3 SWRL rules</a:t>
            </a:r>
            <a:endParaRPr lang="en-US" sz="1250" dirty="0"/>
          </a:p>
          <a:p>
            <a:pPr marL="342900" indent="-342900">
              <a:spcAft>
                <a:spcPts val="800"/>
              </a:spcAft>
              <a:buSzPct val="100000"/>
              <a:buChar char="•"/>
            </a:pPr>
            <a:r>
              <a:rPr lang="en-US" sz="1250" dirty="0">
                <a:solidFill>
                  <a:srgbClr val="FFFFFF"/>
                </a:solidFill>
              </a:rPr>
              <a:t>Consistent under HermiT — zero unsatisfiable classes</a:t>
            </a:r>
            <a:endParaRPr lang="en-US" sz="1250" dirty="0"/>
          </a:p>
          <a:p>
            <a:pPr marL="342900" indent="-342900">
              <a:spcAft>
                <a:spcPts val="800"/>
              </a:spcAft>
              <a:buSzPct val="100000"/>
              <a:buChar char="•"/>
            </a:pPr>
            <a:r>
              <a:rPr lang="en-US" sz="1250" dirty="0">
                <a:solidFill>
                  <a:srgbClr val="FFFFFF"/>
                </a:solidFill>
              </a:rPr>
              <a:t>Defined classes, union / intersection / complement, datatype facets, property characteristics</a:t>
            </a:r>
            <a:endParaRPr lang="en-US" sz="1250" dirty="0"/>
          </a:p>
          <a:p>
            <a:pPr marL="342900" indent="-342900">
              <a:spcAft>
                <a:spcPts val="800"/>
              </a:spcAft>
              <a:buSzPct val="100000"/>
              <a:buChar char="•"/>
            </a:pPr>
            <a:r>
              <a:rPr lang="en-US" sz="1250" dirty="0">
                <a:solidFill>
                  <a:srgbClr val="FFFFFF"/>
                </a:solidFill>
              </a:rPr>
              <a:t>The reasoner does real work: classification, policy checking, location propagation</a:t>
            </a:r>
            <a:endParaRPr lang="en-US" sz="1250" dirty="0"/>
          </a:p>
        </p:txBody>
      </p:sp>
      <p:sp>
        <p:nvSpPr>
          <p:cNvPr id="6" name="Shape 4"/>
          <p:cNvSpPr/>
          <p:nvPr/>
        </p:nvSpPr>
        <p:spPr>
          <a:xfrm>
            <a:off x="4663440" y="1143000"/>
            <a:ext cx="3977640" cy="3520440"/>
          </a:xfrm>
          <a:prstGeom prst="roundRect">
            <a:avLst>
              <a:gd name="adj" fmla="val 2078"/>
            </a:avLst>
          </a:prstGeom>
          <a:solidFill>
            <a:srgbClr val="FFFFFF"/>
          </a:solidFill>
          <a:ln/>
        </p:spPr>
      </p:sp>
      <p:sp>
        <p:nvSpPr>
          <p:cNvPr id="7" name="Text 5"/>
          <p:cNvSpPr/>
          <p:nvPr/>
        </p:nvSpPr>
        <p:spPr>
          <a:xfrm>
            <a:off x="4892040" y="1280160"/>
            <a:ext cx="3566160" cy="365760"/>
          </a:xfrm>
          <a:prstGeom prst="rect">
            <a:avLst/>
          </a:prstGeom>
          <a:noFill/>
          <a:ln/>
        </p:spPr>
        <p:txBody>
          <a:bodyPr wrap="square" lIns="0" tIns="0" rIns="0" bIns="0" rtlCol="0" anchor="ctr"/>
          <a:lstStyle/>
          <a:p>
            <a:pPr indent="0" marL="0">
              <a:buNone/>
            </a:pPr>
            <a:r>
              <a:rPr lang="en-US" sz="1700" b="1" dirty="0">
                <a:solidFill>
                  <a:srgbClr val="028090"/>
                </a:solidFill>
              </a:rPr>
              <a:t>Future work</a:t>
            </a:r>
            <a:endParaRPr lang="en-US" sz="1700" dirty="0"/>
          </a:p>
        </p:txBody>
      </p:sp>
      <p:sp>
        <p:nvSpPr>
          <p:cNvPr id="8" name="Text 6"/>
          <p:cNvSpPr/>
          <p:nvPr/>
        </p:nvSpPr>
        <p:spPr>
          <a:xfrm>
            <a:off x="4892040" y="1691640"/>
            <a:ext cx="3611880" cy="283464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E293B"/>
                </a:solidFill>
              </a:rPr>
              <a:t>Align with SSN/SOSA and SAREF for true interoperability</a:t>
            </a:r>
            <a:endParaRPr lang="en-US" sz="1250" dirty="0"/>
          </a:p>
          <a:p>
            <a:pPr marL="342900" indent="-342900">
              <a:spcAft>
                <a:spcPts val="800"/>
              </a:spcAft>
              <a:buSzPct val="100000"/>
              <a:buChar char="•"/>
            </a:pPr>
            <a:r>
              <a:rPr lang="en-US" sz="1250" dirty="0">
                <a:solidFill>
                  <a:srgbClr val="1E293B"/>
                </a:solidFill>
              </a:rPr>
              <a:t>Temporal modelling of events (intervals, sequences)</a:t>
            </a:r>
            <a:endParaRPr lang="en-US" sz="1250" dirty="0"/>
          </a:p>
          <a:p>
            <a:pPr marL="342900" indent="-342900">
              <a:spcAft>
                <a:spcPts val="800"/>
              </a:spcAft>
              <a:buSzPct val="100000"/>
              <a:buChar char="•"/>
            </a:pPr>
            <a:r>
              <a:rPr lang="en-US" sz="1250" dirty="0">
                <a:solidFill>
                  <a:srgbClr val="1E293B"/>
                </a:solidFill>
              </a:rPr>
              <a:t>SPARQL endpoint + live device data ingestion</a:t>
            </a:r>
            <a:endParaRPr lang="en-US" sz="1250" dirty="0"/>
          </a:p>
          <a:p>
            <a:pPr marL="342900" indent="-342900">
              <a:spcAft>
                <a:spcPts val="800"/>
              </a:spcAft>
              <a:buSzPct val="100000"/>
              <a:buChar char="•"/>
            </a:pPr>
            <a:r>
              <a:rPr lang="en-US" sz="1250" dirty="0">
                <a:solidFill>
                  <a:srgbClr val="1E293B"/>
                </a:solidFill>
              </a:rPr>
              <a:t>Richer automation semantics: rule conflicts, priorities, triggers as first-class objects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E293B"/>
                </a:solidFill>
                <a:latin typeface="Arial" pitchFamily="34" charset="0"/>
                <a:ea typeface="Arial" pitchFamily="34" charset="-122"/>
                <a:cs typeface="Arial" pitchFamily="34" charset="-120"/>
              </a:rPr>
              <a:t>References</a:t>
            </a:r>
            <a:endParaRPr lang="en-US" sz="3000" dirty="0"/>
          </a:p>
        </p:txBody>
      </p:sp>
      <p:sp>
        <p:nvSpPr>
          <p:cNvPr id="3" name="Text 1"/>
          <p:cNvSpPr/>
          <p:nvPr/>
        </p:nvSpPr>
        <p:spPr>
          <a:xfrm>
            <a:off x="640080" y="1188720"/>
            <a:ext cx="7863840" cy="347472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E293B"/>
                </a:solidFill>
              </a:rPr>
              <a:t>Gruber, T. (1993). A Translation Approach to Portable Ontology Specifications. Knowledge Acquisition, 5(2).</a:t>
            </a:r>
            <a:endParaRPr lang="en-US" sz="1350" dirty="0"/>
          </a:p>
          <a:p>
            <a:pPr marL="342900" indent="-342900">
              <a:spcAft>
                <a:spcPts val="1000"/>
              </a:spcAft>
              <a:buSzPct val="100000"/>
              <a:buChar char="•"/>
            </a:pPr>
            <a:r>
              <a:rPr lang="en-US" sz="1350" dirty="0">
                <a:solidFill>
                  <a:srgbClr val="1E293B"/>
                </a:solidFill>
              </a:rPr>
              <a:t>Noy, N. &amp; McGuinness, D. (2001). Ontology Development 101. Stanford KSL Technical Report.</a:t>
            </a:r>
            <a:endParaRPr lang="en-US" sz="1350" dirty="0"/>
          </a:p>
          <a:p>
            <a:pPr marL="342900" indent="-342900">
              <a:spcAft>
                <a:spcPts val="1000"/>
              </a:spcAft>
              <a:buSzPct val="100000"/>
              <a:buChar char="•"/>
            </a:pPr>
            <a:r>
              <a:rPr lang="en-US" sz="1350" dirty="0">
                <a:solidFill>
                  <a:srgbClr val="1E293B"/>
                </a:solidFill>
              </a:rPr>
              <a:t>W3C (2012). OWL 2 Web Ontology Language Primer (2nd ed.).</a:t>
            </a:r>
            <a:endParaRPr lang="en-US" sz="1350" dirty="0"/>
          </a:p>
          <a:p>
            <a:pPr marL="342900" indent="-342900">
              <a:spcAft>
                <a:spcPts val="1000"/>
              </a:spcAft>
              <a:buSzPct val="100000"/>
              <a:buChar char="•"/>
            </a:pPr>
            <a:r>
              <a:rPr lang="en-US" sz="1350" dirty="0">
                <a:solidFill>
                  <a:srgbClr val="1E293B"/>
                </a:solidFill>
              </a:rPr>
              <a:t>Horrocks, I. et al. (2004). SWRL: A Semantic Web Rule Language. W3C Member Submission.</a:t>
            </a:r>
            <a:endParaRPr lang="en-US" sz="1350" dirty="0"/>
          </a:p>
          <a:p>
            <a:pPr marL="342900" indent="-342900">
              <a:spcAft>
                <a:spcPts val="1000"/>
              </a:spcAft>
              <a:buSzPct val="100000"/>
              <a:buChar char="•"/>
            </a:pPr>
            <a:r>
              <a:rPr lang="en-US" sz="1350" dirty="0">
                <a:solidFill>
                  <a:srgbClr val="1E293B"/>
                </a:solidFill>
              </a:rPr>
              <a:t>Glimm, B. et al. (2014). HermiT: An OWL 2 Reasoner. Journal of Automated Reasoning, 53(3).</a:t>
            </a:r>
            <a:endParaRPr lang="en-US" sz="1350" dirty="0"/>
          </a:p>
          <a:p>
            <a:pPr marL="342900" indent="-342900">
              <a:spcAft>
                <a:spcPts val="1000"/>
              </a:spcAft>
              <a:buSzPct val="100000"/>
              <a:buChar char="•"/>
            </a:pPr>
            <a:r>
              <a:rPr lang="en-US" sz="1350" dirty="0">
                <a:solidFill>
                  <a:srgbClr val="1E293B"/>
                </a:solidFill>
              </a:rPr>
              <a:t>Musen, M. (2015). The Protégé Project: A Look Back and a Look Forward. AI Matters, 1(4).</a:t>
            </a:r>
            <a:endParaRPr lang="en-US" sz="1350" dirty="0"/>
          </a:p>
          <a:p>
            <a:pPr marL="342900" indent="-342900">
              <a:spcAft>
                <a:spcPts val="1000"/>
              </a:spcAft>
              <a:buSzPct val="100000"/>
              <a:buChar char="•"/>
            </a:pPr>
            <a:r>
              <a:rPr lang="en-US" sz="1350" dirty="0">
                <a:solidFill>
                  <a:srgbClr val="1E293B"/>
                </a:solidFill>
              </a:rPr>
              <a:t>Haller, A. et al. (2019). The SOSA/SSN Ontology. Semantic Web Journal, 10(1).</a:t>
            </a:r>
            <a:endParaRPr lang="en-US" sz="1350" dirty="0"/>
          </a:p>
          <a:p>
            <a:pPr marL="342900" indent="-342900">
              <a:spcAft>
                <a:spcPts val="1000"/>
              </a:spcAft>
              <a:buSzPct val="100000"/>
              <a:buChar char="•"/>
            </a:pPr>
            <a:r>
              <a:rPr lang="en-US" sz="1350" dirty="0">
                <a:solidFill>
                  <a:srgbClr val="1E293B"/>
                </a:solidFill>
              </a:rPr>
              <a:t>ETSI (2020). SAREF: Smart Applications REFerence ontology. TS 103 264.</a:t>
            </a:r>
            <a:endParaRPr lang="en-US" sz="1350" dirty="0"/>
          </a:p>
          <a:p>
            <a:pPr marL="342900" indent="-342900">
              <a:spcAft>
                <a:spcPts val="1000"/>
              </a:spcAft>
              <a:buSzPct val="100000"/>
              <a:buChar char="•"/>
            </a:pPr>
            <a:r>
              <a:rPr lang="en-US" sz="1350" dirty="0">
                <a:solidFill>
                  <a:srgbClr val="1E293B"/>
                </a:solidFill>
              </a:rPr>
              <a:t>Baader, F. et al. (2007). The Description Logic Handbook (2nd ed.). Cambridge UP.</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Smart Home Ontology in OWL 2</dc:title>
  <dc:subject>PptxGenJS Presentation</dc:subject>
  <dc:creator>Raul</dc:creator>
  <cp:lastModifiedBy>Raul</cp:lastModifiedBy>
  <cp:revision>1</cp:revision>
  <dcterms:created xsi:type="dcterms:W3CDTF">2026-06-10T19:30:07Z</dcterms:created>
  <dcterms:modified xsi:type="dcterms:W3CDTF">2026-06-10T19:30:07Z</dcterms:modified>
</cp:coreProperties>
</file>